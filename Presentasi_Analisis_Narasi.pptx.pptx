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ora Bold" charset="1" panose="00000800000000000000"/>
      <p:regular r:id="rId22"/>
    </p:embeddedFont>
    <p:embeddedFont>
      <p:font typeface="Inter Bold" charset="1" panose="020B0802030000000004"/>
      <p:regular r:id="rId23"/>
    </p:embeddedFont>
    <p:embeddedFont>
      <p:font typeface="Inter Medium" charset="1" panose="02000503000000020004"/>
      <p:regular r:id="rId24"/>
    </p:embeddedFont>
    <p:embeddedFont>
      <p:font typeface="Alegreya Sans" charset="1" panose="00000500000000000000"/>
      <p:regular r:id="rId26"/>
    </p:embeddedFont>
    <p:embeddedFont>
      <p:font typeface="Alegreya Sans Bold" charset="1" panose="00000800000000000000"/>
      <p:regular r:id="rId27"/>
    </p:embeddedFont>
    <p:embeddedFont>
      <p:font typeface="Lora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9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" y="176660"/>
            <a:ext cx="114300" cy="114300"/>
            <a:chOff x="0" y="0"/>
            <a:chExt cx="152400" cy="1524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7685" y="635644"/>
            <a:ext cx="11914287" cy="37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7836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Analisis Pola Penyebaran Narasi Politik pada Aplikasi 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6509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8011" y="2255367"/>
            <a:ext cx="19004022" cy="5012311"/>
          </a:xfrm>
          <a:custGeom>
            <a:avLst/>
            <a:gdLst/>
            <a:ahLst/>
            <a:cxnLst/>
            <a:rect r="r" b="b" t="t" l="l"/>
            <a:pathLst>
              <a:path h="5012311" w="19004022">
                <a:moveTo>
                  <a:pt x="0" y="0"/>
                </a:moveTo>
                <a:lnTo>
                  <a:pt x="19004022" y="0"/>
                </a:lnTo>
                <a:lnTo>
                  <a:pt x="19004022" y="5012310"/>
                </a:lnTo>
                <a:lnTo>
                  <a:pt x="0" y="501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7595805"/>
            <a:ext cx="10693116" cy="1662495"/>
            <a:chOff x="0" y="0"/>
            <a:chExt cx="2989148" cy="4647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89148" cy="464733"/>
            </a:xfrm>
            <a:custGeom>
              <a:avLst/>
              <a:gdLst/>
              <a:ahLst/>
              <a:cxnLst/>
              <a:rect r="r" b="b" t="t" l="l"/>
              <a:pathLst>
                <a:path h="464733" w="2989148">
                  <a:moveTo>
                    <a:pt x="0" y="0"/>
                  </a:moveTo>
                  <a:lnTo>
                    <a:pt x="2989148" y="0"/>
                  </a:lnTo>
                  <a:lnTo>
                    <a:pt x="2989148" y="464733"/>
                  </a:lnTo>
                  <a:lnTo>
                    <a:pt x="0" y="464733"/>
                  </a:lnTo>
                  <a:close/>
                </a:path>
              </a:pathLst>
            </a:custGeom>
            <a:solidFill>
              <a:srgbClr val="FFF4E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89148" cy="502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6685" y="7813830"/>
            <a:ext cx="883309" cy="1226445"/>
            <a:chOff x="0" y="0"/>
            <a:chExt cx="246920" cy="34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920" cy="342840"/>
            </a:xfrm>
            <a:custGeom>
              <a:avLst/>
              <a:gdLst/>
              <a:ahLst/>
              <a:cxnLst/>
              <a:rect r="r" b="b" t="t" l="l"/>
              <a:pathLst>
                <a:path h="342840" w="246920">
                  <a:moveTo>
                    <a:pt x="0" y="0"/>
                  </a:moveTo>
                  <a:lnTo>
                    <a:pt x="246920" y="0"/>
                  </a:lnTo>
                  <a:lnTo>
                    <a:pt x="246920" y="342840"/>
                  </a:lnTo>
                  <a:lnTo>
                    <a:pt x="0" y="342840"/>
                  </a:lnTo>
                  <a:close/>
                </a:path>
              </a:pathLst>
            </a:custGeom>
            <a:solidFill>
              <a:srgbClr val="AD8A2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6920" cy="380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93965" y="7816784"/>
            <a:ext cx="8050551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20" b="true">
                <a:solidFill>
                  <a:srgbClr val="B3902F"/>
                </a:solidFill>
                <a:latin typeface="Inter Bold"/>
                <a:ea typeface="Inter Bold"/>
                <a:cs typeface="Inter Bold"/>
                <a:sym typeface="Inter Bold"/>
              </a:rPr>
              <a:t>Fahmi Alfayadh:</a:t>
            </a:r>
            <a:r>
              <a:rPr lang="en-US" sz="2400" spc="-120" b="true">
                <a:solidFill>
                  <a:srgbClr val="774126"/>
                </a:solidFill>
                <a:latin typeface="Inter Bold"/>
                <a:ea typeface="Inter Bold"/>
                <a:cs typeface="Inter Bold"/>
                <a:sym typeface="Inter Bold"/>
              </a:rPr>
              <a:t> 5054251015</a:t>
            </a:r>
          </a:p>
          <a:p>
            <a:pPr algn="l">
              <a:lnSpc>
                <a:spcPts val="3359"/>
              </a:lnSpc>
            </a:pPr>
            <a:r>
              <a:rPr lang="en-US" sz="2400" spc="-120" b="true">
                <a:solidFill>
                  <a:srgbClr val="B3902F"/>
                </a:solidFill>
                <a:latin typeface="Inter Bold"/>
                <a:ea typeface="Inter Bold"/>
                <a:cs typeface="Inter Bold"/>
                <a:sym typeface="Inter Bold"/>
              </a:rPr>
              <a:t>Mahardika Indra Pratama Ilyasa: </a:t>
            </a:r>
            <a:r>
              <a:rPr lang="en-US" sz="2400" spc="-120" b="true">
                <a:solidFill>
                  <a:srgbClr val="774126"/>
                </a:solidFill>
                <a:latin typeface="Inter Bold"/>
                <a:ea typeface="Inter Bold"/>
                <a:cs typeface="Inter Bold"/>
                <a:sym typeface="Inter Bold"/>
              </a:rPr>
              <a:t>5054251045</a:t>
            </a:r>
          </a:p>
          <a:p>
            <a:pPr algn="l">
              <a:lnSpc>
                <a:spcPts val="3359"/>
              </a:lnSpc>
            </a:pPr>
            <a:r>
              <a:rPr lang="en-US" sz="2400" spc="-120" b="true">
                <a:solidFill>
                  <a:srgbClr val="B3902F"/>
                </a:solidFill>
                <a:latin typeface="Inter Bold"/>
                <a:ea typeface="Inter Bold"/>
                <a:cs typeface="Inter Bold"/>
                <a:sym typeface="Inter Bold"/>
              </a:rPr>
              <a:t>Dafa aufa affif: </a:t>
            </a:r>
            <a:r>
              <a:rPr lang="en-US" sz="2400" spc="-120" b="true">
                <a:solidFill>
                  <a:srgbClr val="774126"/>
                </a:solidFill>
                <a:latin typeface="Inter Bold"/>
                <a:ea typeface="Inter Bold"/>
                <a:cs typeface="Inter Bold"/>
                <a:sym typeface="Inter Bold"/>
              </a:rPr>
              <a:t>5054251022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711216" y="7557705"/>
            <a:ext cx="2028015" cy="31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  <a:spcBef>
                <a:spcPct val="0"/>
              </a:spcBef>
            </a:pPr>
            <a:r>
              <a:rPr lang="en-US" b="true" sz="1840" spc="-9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Program Studi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1216" y="7883862"/>
            <a:ext cx="2809569" cy="128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  <a:spcBef>
                <a:spcPct val="0"/>
              </a:spcBef>
            </a:pPr>
            <a:r>
              <a:rPr lang="en-US" b="true" sz="2453" spc="-122">
                <a:solidFill>
                  <a:srgbClr val="B3902F"/>
                </a:solidFill>
                <a:latin typeface="Inter Bold"/>
                <a:ea typeface="Inter Bold"/>
                <a:cs typeface="Inter Bold"/>
                <a:sym typeface="Inter Bold"/>
              </a:rPr>
              <a:t>Rekayasa Kecerdasan Artifisial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66029" y="7557705"/>
            <a:ext cx="2415504" cy="31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  <a:spcBef>
                <a:spcPct val="0"/>
              </a:spcBef>
            </a:pPr>
            <a:r>
              <a:rPr lang="en-US" b="true" sz="1840" spc="-9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Dosen Pengampu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6029" y="7883862"/>
            <a:ext cx="2993271" cy="85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  <a:spcBef>
                <a:spcPct val="0"/>
              </a:spcBef>
            </a:pPr>
            <a:r>
              <a:rPr lang="en-US" b="true" sz="2453" spc="-122">
                <a:solidFill>
                  <a:srgbClr val="B3902F"/>
                </a:solidFill>
                <a:latin typeface="Inter Bold"/>
                <a:ea typeface="Inter Bold"/>
                <a:cs typeface="Inter Bold"/>
                <a:sym typeface="Inter Bold"/>
              </a:rPr>
              <a:t>Dini Adni Navastara, S.Kom, M.Sc.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7685" y="7157655"/>
            <a:ext cx="500284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b="true" sz="2899" spc="-1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Kelompok 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205611" y="2407767"/>
            <a:ext cx="19004022" cy="5012311"/>
          </a:xfrm>
          <a:custGeom>
            <a:avLst/>
            <a:gdLst/>
            <a:ahLst/>
            <a:cxnLst/>
            <a:rect r="r" b="b" t="t" l="l"/>
            <a:pathLst>
              <a:path h="5012311" w="19004022">
                <a:moveTo>
                  <a:pt x="0" y="0"/>
                </a:moveTo>
                <a:lnTo>
                  <a:pt x="19004022" y="0"/>
                </a:lnTo>
                <a:lnTo>
                  <a:pt x="19004022" y="5012310"/>
                </a:lnTo>
                <a:lnTo>
                  <a:pt x="0" y="5012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1253" y="1946585"/>
            <a:ext cx="5535613" cy="95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sz="6128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1. Sumber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81253" y="3177055"/>
            <a:ext cx="14577106" cy="471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6"/>
              </a:lnSpc>
            </a:pPr>
            <a:r>
              <a:rPr lang="en-US" sz="3882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Data berasal dari </a:t>
            </a:r>
            <a:r>
              <a:rPr lang="en-US" sz="3882" b="true">
                <a:solidFill>
                  <a:srgbClr val="991B1B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sample</a:t>
            </a:r>
            <a:r>
              <a:rPr lang="en-US" sz="3882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data tweet yang difilter khusus keyword ganjar, prabowo, dan anies pada periode kampanye pilpres 2024 yang disediakan oleh </a:t>
            </a:r>
            <a:r>
              <a:rPr lang="en-US" sz="3882" b="true">
                <a:solidFill>
                  <a:srgbClr val="991B1B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Drone Emprit</a:t>
            </a:r>
          </a:p>
          <a:p>
            <a:pPr algn="l">
              <a:lnSpc>
                <a:spcPts val="6196"/>
              </a:lnSpc>
            </a:pPr>
          </a:p>
          <a:p>
            <a:pPr algn="l">
              <a:lnSpc>
                <a:spcPts val="6196"/>
              </a:lnSpc>
            </a:pPr>
            <a:r>
              <a:rPr lang="en-US" sz="3882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Keterbatasan akses data secara lengkap dikarenakan</a:t>
            </a:r>
            <a:r>
              <a:rPr lang="en-US" sz="3882">
                <a:solidFill>
                  <a:srgbClr val="991B1B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3882" b="true">
                <a:solidFill>
                  <a:srgbClr val="991B1B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kebijakan aplikasi X</a:t>
            </a:r>
            <a:r>
              <a:rPr lang="en-US" sz="3882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yang melarang menyebarkan dataset mereka secara bebas.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5476" y="2727053"/>
            <a:ext cx="19004022" cy="5012311"/>
          </a:xfrm>
          <a:custGeom>
            <a:avLst/>
            <a:gdLst/>
            <a:ahLst/>
            <a:cxnLst/>
            <a:rect r="r" b="b" t="t" l="l"/>
            <a:pathLst>
              <a:path h="5012311" w="19004022">
                <a:moveTo>
                  <a:pt x="0" y="0"/>
                </a:moveTo>
                <a:lnTo>
                  <a:pt x="19004022" y="0"/>
                </a:lnTo>
                <a:lnTo>
                  <a:pt x="19004022" y="5012311"/>
                </a:lnTo>
                <a:lnTo>
                  <a:pt x="0" y="5012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4604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9368" y="9541604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72448" y="2344365"/>
            <a:ext cx="7458714" cy="1118807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75247" y="6255326"/>
            <a:ext cx="5389681" cy="2594804"/>
            <a:chOff x="0" y="0"/>
            <a:chExt cx="6024359" cy="29003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24372" cy="2900299"/>
            </a:xfrm>
            <a:custGeom>
              <a:avLst/>
              <a:gdLst/>
              <a:ahLst/>
              <a:cxnLst/>
              <a:rect r="r" b="b" t="t" l="l"/>
              <a:pathLst>
                <a:path h="2900299" w="6024372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5964555" y="0"/>
                  </a:lnTo>
                  <a:cubicBezTo>
                    <a:pt x="5997575" y="0"/>
                    <a:pt x="6024372" y="26797"/>
                    <a:pt x="6024372" y="59817"/>
                  </a:cubicBezTo>
                  <a:lnTo>
                    <a:pt x="6024372" y="2840482"/>
                  </a:lnTo>
                  <a:cubicBezTo>
                    <a:pt x="6024372" y="2873502"/>
                    <a:pt x="5997575" y="2900299"/>
                    <a:pt x="596455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75247" y="2766272"/>
            <a:ext cx="5389681" cy="2872957"/>
            <a:chOff x="0" y="0"/>
            <a:chExt cx="6024359" cy="3211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4372" cy="3211200"/>
            </a:xfrm>
            <a:custGeom>
              <a:avLst/>
              <a:gdLst/>
              <a:ahLst/>
              <a:cxnLst/>
              <a:rect r="r" b="b" t="t" l="l"/>
              <a:pathLst>
                <a:path h="3211200" w="6024372">
                  <a:moveTo>
                    <a:pt x="0" y="66229"/>
                  </a:moveTo>
                  <a:cubicBezTo>
                    <a:pt x="0" y="29670"/>
                    <a:pt x="26797" y="0"/>
                    <a:pt x="59817" y="0"/>
                  </a:cubicBezTo>
                  <a:lnTo>
                    <a:pt x="5964555" y="0"/>
                  </a:lnTo>
                  <a:cubicBezTo>
                    <a:pt x="5997575" y="0"/>
                    <a:pt x="6024372" y="29670"/>
                    <a:pt x="6024372" y="66229"/>
                  </a:cubicBezTo>
                  <a:lnTo>
                    <a:pt x="6024372" y="3144971"/>
                  </a:lnTo>
                  <a:cubicBezTo>
                    <a:pt x="6024372" y="3181531"/>
                    <a:pt x="5997575" y="3211200"/>
                    <a:pt x="5964555" y="3211200"/>
                  </a:cubicBezTo>
                  <a:lnTo>
                    <a:pt x="59817" y="3211200"/>
                  </a:lnTo>
                  <a:cubicBezTo>
                    <a:pt x="26797" y="3211200"/>
                    <a:pt x="0" y="3181531"/>
                    <a:pt x="0" y="3144971"/>
                  </a:cubicBezTo>
                  <a:close/>
                </a:path>
              </a:pathLst>
            </a:custGeom>
            <a:solidFill>
              <a:srgbClr val="F3E7D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3072" y="6252658"/>
            <a:ext cx="10599258" cy="2597472"/>
            <a:chOff x="0" y="0"/>
            <a:chExt cx="11847405" cy="29033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47344" cy="2903357"/>
            </a:xfrm>
            <a:custGeom>
              <a:avLst/>
              <a:gdLst/>
              <a:ahLst/>
              <a:cxnLst/>
              <a:rect r="r" b="b" t="t" l="l"/>
              <a:pathLst>
                <a:path h="2903357" w="11847344">
                  <a:moveTo>
                    <a:pt x="0" y="76777"/>
                  </a:moveTo>
                  <a:cubicBezTo>
                    <a:pt x="0" y="34395"/>
                    <a:pt x="25505" y="0"/>
                    <a:pt x="56933" y="0"/>
                  </a:cubicBezTo>
                  <a:lnTo>
                    <a:pt x="11790411" y="0"/>
                  </a:lnTo>
                  <a:cubicBezTo>
                    <a:pt x="11821840" y="0"/>
                    <a:pt x="11847344" y="34395"/>
                    <a:pt x="11847344" y="76777"/>
                  </a:cubicBezTo>
                  <a:lnTo>
                    <a:pt x="11847344" y="2826583"/>
                  </a:lnTo>
                  <a:cubicBezTo>
                    <a:pt x="11847344" y="2868966"/>
                    <a:pt x="11821840" y="2903357"/>
                    <a:pt x="11790411" y="2903357"/>
                  </a:cubicBezTo>
                  <a:lnTo>
                    <a:pt x="56933" y="2903357"/>
                  </a:lnTo>
                  <a:cubicBezTo>
                    <a:pt x="25505" y="2903357"/>
                    <a:pt x="0" y="2868966"/>
                    <a:pt x="0" y="2826583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9245" y="2737764"/>
            <a:ext cx="10503085" cy="3314378"/>
            <a:chOff x="0" y="0"/>
            <a:chExt cx="14004113" cy="441917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690495"/>
              <a:ext cx="4001175" cy="621446"/>
              <a:chOff x="0" y="0"/>
              <a:chExt cx="2943679" cy="457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4001175" cy="690495"/>
              <a:chOff x="0" y="0"/>
              <a:chExt cx="2943679" cy="508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943679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508000"/>
                    </a:lnTo>
                    <a:lnTo>
                      <a:pt x="0" y="508000"/>
                    </a:lnTo>
                    <a:close/>
                  </a:path>
                </a:pathLst>
              </a:custGeom>
              <a:solidFill>
                <a:srgbClr val="3A363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943679" cy="555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001175" y="0"/>
              <a:ext cx="10002938" cy="690495"/>
              <a:chOff x="0" y="0"/>
              <a:chExt cx="7359198" cy="50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359198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508000"/>
                    </a:lnTo>
                    <a:lnTo>
                      <a:pt x="0" y="508000"/>
                    </a:lnTo>
                    <a:close/>
                  </a:path>
                </a:pathLst>
              </a:custGeom>
              <a:solidFill>
                <a:srgbClr val="3A363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359198" cy="555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001175" y="690495"/>
              <a:ext cx="10002938" cy="621446"/>
              <a:chOff x="0" y="0"/>
              <a:chExt cx="7359198" cy="457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001175" y="-3061"/>
              <a:ext cx="10002938" cy="633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96"/>
                </a:lnSpc>
                <a:spcBef>
                  <a:spcPct val="0"/>
                </a:spcBef>
              </a:pPr>
              <a:r>
                <a:rPr lang="en-US" sz="2854" strike="noStrike" u="non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Nilai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10890"/>
              <a:ext cx="4001175" cy="649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42"/>
                </a:lnSpc>
                <a:spcBef>
                  <a:spcPct val="0"/>
                </a:spcBef>
              </a:pPr>
              <a:r>
                <a:rPr lang="en-US" sz="2959" strike="noStrike" u="non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Metrik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1311941"/>
              <a:ext cx="4001175" cy="621446"/>
              <a:chOff x="0" y="0"/>
              <a:chExt cx="2943679" cy="457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01175" y="1311941"/>
              <a:ext cx="10002938" cy="621446"/>
              <a:chOff x="0" y="0"/>
              <a:chExt cx="7359198" cy="457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1933387"/>
              <a:ext cx="4001175" cy="621446"/>
              <a:chOff x="0" y="0"/>
              <a:chExt cx="2943679" cy="457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01175" y="1933387"/>
              <a:ext cx="10002938" cy="621446"/>
              <a:chOff x="0" y="0"/>
              <a:chExt cx="7359198" cy="4572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2554833"/>
              <a:ext cx="4001175" cy="621446"/>
              <a:chOff x="0" y="0"/>
              <a:chExt cx="2943679" cy="457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4001175" y="2554833"/>
              <a:ext cx="10002938" cy="621446"/>
              <a:chOff x="0" y="0"/>
              <a:chExt cx="7359198" cy="457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3176279"/>
              <a:ext cx="4001175" cy="621446"/>
              <a:chOff x="0" y="0"/>
              <a:chExt cx="2943679" cy="4572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4001175" y="3176279"/>
              <a:ext cx="10002938" cy="621446"/>
              <a:chOff x="0" y="0"/>
              <a:chExt cx="7359198" cy="4572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3E7D4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3797725"/>
              <a:ext cx="4001175" cy="621446"/>
              <a:chOff x="0" y="0"/>
              <a:chExt cx="2943679" cy="4572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943679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2943679">
                    <a:moveTo>
                      <a:pt x="0" y="0"/>
                    </a:moveTo>
                    <a:lnTo>
                      <a:pt x="2943679" y="0"/>
                    </a:lnTo>
                    <a:lnTo>
                      <a:pt x="2943679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2943679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4001175" y="3797725"/>
              <a:ext cx="10002938" cy="621446"/>
              <a:chOff x="0" y="0"/>
              <a:chExt cx="7359198" cy="4572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7359198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7359198">
                    <a:moveTo>
                      <a:pt x="0" y="0"/>
                    </a:moveTo>
                    <a:lnTo>
                      <a:pt x="7359198" y="0"/>
                    </a:lnTo>
                    <a:lnTo>
                      <a:pt x="7359198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FEF5E7"/>
              </a:solidFill>
              <a:ln w="9525" cap="sq">
                <a:solidFill>
                  <a:srgbClr val="C8B99A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7359198" cy="504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214349" y="622547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Total Tweet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4215524" y="622547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1.002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214349" y="1243993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Akun Unik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4215524" y="1243993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584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14349" y="1865439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Rentang Waktu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215524" y="1865439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22 </a:t>
              </a: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menit (17:59–18:21 UTC)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214349" y="2486884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Tanggal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4215524" y="2486884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2024-01-04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14349" y="3108330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Total Retweet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4215524" y="3108330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563 (56,2%)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214349" y="3729776"/>
              <a:ext cx="3715377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Tweet per Query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4215524" y="3729776"/>
              <a:ext cx="9717140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5"/>
                </a:lnSpc>
                <a:spcBef>
                  <a:spcPct val="0"/>
                </a:spcBef>
              </a:pPr>
              <a:r>
                <a:rPr lang="en-US" sz="2582" strike="noStrike" u="none">
                  <a:solidFill>
                    <a:srgbClr val="3A363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334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624604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692731" y="1344973"/>
            <a:ext cx="6675755" cy="83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2. Ringkasan Dataset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424812" y="6562410"/>
            <a:ext cx="1085602" cy="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220" b="true">
                <a:solidFill>
                  <a:srgbClr val="991B1B"/>
                </a:solidFill>
                <a:latin typeface="Lora Bold"/>
                <a:ea typeface="Lora Bold"/>
                <a:cs typeface="Lora Bold"/>
                <a:sym typeface="Lora Bold"/>
              </a:rPr>
              <a:t>Anies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424812" y="6914416"/>
            <a:ext cx="4676010" cy="111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743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334 tweet · 187 akun · 302 retweet · 325 reply/mention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332083" y="3104058"/>
            <a:ext cx="1313808" cy="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220" b="true">
                <a:solidFill>
                  <a:srgbClr val="991B1B"/>
                </a:solidFill>
                <a:latin typeface="Lora Bold"/>
                <a:ea typeface="Lora Bold"/>
                <a:cs typeface="Lora Bold"/>
                <a:sym typeface="Lora Bold"/>
              </a:rPr>
              <a:t>Ganjar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332083" y="3700067"/>
            <a:ext cx="4676010" cy="111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743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334 tweet · 255 akun · 34 retweet · 54 reply/mention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68810" y="6562410"/>
            <a:ext cx="1701142" cy="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220" b="true">
                <a:solidFill>
                  <a:srgbClr val="991B1B"/>
                </a:solidFill>
                <a:latin typeface="Lora Bold"/>
                <a:ea typeface="Lora Bold"/>
                <a:cs typeface="Lora Bold"/>
                <a:sym typeface="Lora Bold"/>
              </a:rPr>
              <a:t>Prabowo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68810" y="6966767"/>
            <a:ext cx="10422538" cy="111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743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334 tweet · 199 akun · 227 retweet · </a:t>
            </a:r>
          </a:p>
          <a:p>
            <a:pPr algn="l">
              <a:lnSpc>
                <a:spcPts val="4378"/>
              </a:lnSpc>
            </a:pPr>
            <a:r>
              <a:rPr lang="en-US" sz="2743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282 reply/mention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222" y="1672995"/>
            <a:ext cx="526605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3. Persiapan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91992" y="5878706"/>
            <a:ext cx="302185" cy="302185"/>
            <a:chOff x="0" y="0"/>
            <a:chExt cx="381000" cy="38100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5796" y="2795693"/>
            <a:ext cx="13492654" cy="16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4"/>
              </a:lnSpc>
            </a:pPr>
            <a:r>
              <a:rPr lang="en-US" sz="3918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Semua tweet digabung lalu diurutkan berdasarkan </a:t>
            </a:r>
            <a:r>
              <a:rPr lang="en-US" sz="3918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date_created</a:t>
            </a:r>
            <a:r>
              <a:rPr lang="en-US" sz="3918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. Dua versi teks dibuat: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7435" y="4472532"/>
            <a:ext cx="16109125" cy="262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4754" indent="-352377" lvl="1">
              <a:lnSpc>
                <a:spcPts val="5209"/>
              </a:lnSpc>
              <a:buAutoNum type="arabicPeriod" startAt="1"/>
            </a:pPr>
            <a:r>
              <a:rPr lang="en-US" b="true" sz="3264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cleaned_content</a:t>
            </a:r>
            <a:r>
              <a:rPr lang="en-US" sz="326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menghapus marker RT, pola reply, URL, spasi berlebih — untuk embedding/kesamaan semantik.</a:t>
            </a:r>
          </a:p>
          <a:p>
            <a:pPr algn="l" marL="704754" indent="-352377" lvl="1">
              <a:lnSpc>
                <a:spcPts val="5209"/>
              </a:lnSpc>
              <a:buAutoNum type="arabicPeriod" startAt="1"/>
            </a:pPr>
            <a:r>
              <a:rPr lang="en-US" b="true" sz="3264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topic_content</a:t>
            </a:r>
            <a:r>
              <a:rPr lang="en-US" sz="326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pembersihan lebih ketat (hapus mention, non-alfanumerik, token pendek) — untuk ekstraksi kata kunci/topik kluster.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5796" y="7470762"/>
            <a:ext cx="9958649" cy="117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2855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Pemisahan ini bertujuan untuk mengurangi bias dari penanda platform (RT/mention) saat mengukur kemiripan narasi.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4604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90670" y="2843976"/>
            <a:ext cx="20097015" cy="5300588"/>
          </a:xfrm>
          <a:custGeom>
            <a:avLst/>
            <a:gdLst/>
            <a:ahLst/>
            <a:cxnLst/>
            <a:rect r="r" b="b" t="t" l="l"/>
            <a:pathLst>
              <a:path h="5300588" w="20097015">
                <a:moveTo>
                  <a:pt x="0" y="0"/>
                </a:moveTo>
                <a:lnTo>
                  <a:pt x="20097015" y="0"/>
                </a:lnTo>
                <a:lnTo>
                  <a:pt x="20097015" y="5300588"/>
                </a:lnTo>
                <a:lnTo>
                  <a:pt x="0" y="53005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9271" y="1402261"/>
            <a:ext cx="1052322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4. Pengukuran Kemiripan &amp; Waktu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19289" y="2505142"/>
            <a:ext cx="11515799" cy="5378417"/>
            <a:chOff x="0" y="0"/>
            <a:chExt cx="15354399" cy="717122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354399" cy="7171223"/>
              <a:chOff x="0" y="0"/>
              <a:chExt cx="13537006" cy="6322416"/>
            </a:xfrm>
          </p:grpSpPr>
          <p:sp>
            <p:nvSpPr>
              <p:cNvPr name="Freeform 5" id="5" descr="preencoded.png"/>
              <p:cNvSpPr/>
              <p:nvPr/>
            </p:nvSpPr>
            <p:spPr>
              <a:xfrm flipH="false" flipV="false" rot="0">
                <a:off x="0" y="0"/>
                <a:ext cx="13537057" cy="6322441"/>
              </a:xfrm>
              <a:custGeom>
                <a:avLst/>
                <a:gdLst/>
                <a:ahLst/>
                <a:cxnLst/>
                <a:rect r="r" b="b" t="t" l="l"/>
                <a:pathLst>
                  <a:path h="6322441" w="13537057">
                    <a:moveTo>
                      <a:pt x="0" y="0"/>
                    </a:moveTo>
                    <a:lnTo>
                      <a:pt x="13537057" y="0"/>
                    </a:lnTo>
                    <a:lnTo>
                      <a:pt x="13537057" y="6322441"/>
                    </a:lnTo>
                    <a:lnTo>
                      <a:pt x="0" y="632244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011" t="0" r="-1011" b="0"/>
                </a:stretch>
              </a:blip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756917" y="4581975"/>
              <a:ext cx="2882661" cy="2098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2"/>
                </a:lnSpc>
              </a:pPr>
              <a:r>
                <a:rPr lang="en-US" sz="238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Gabungkan dengan bobot masing-masing 50%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133846" y="4581975"/>
              <a:ext cx="2882661" cy="1459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2"/>
                </a:lnSpc>
              </a:pPr>
              <a:r>
                <a:rPr lang="en-US" sz="238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Hitung kemiripan Waktu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516529" y="4666388"/>
              <a:ext cx="2882661" cy="969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2"/>
                </a:lnSpc>
              </a:pPr>
              <a:r>
                <a:rPr lang="en-US" sz="238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Hitung kemiripan Text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9212" y="4885330"/>
              <a:ext cx="2882661" cy="531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2"/>
                </a:lnSpc>
              </a:pPr>
              <a:r>
                <a:rPr lang="en-US" sz="238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Embed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72650" y="7683793"/>
            <a:ext cx="4024154" cy="50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329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Formula Matematika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9629" y="7940435"/>
            <a:ext cx="15648742" cy="674831"/>
            <a:chOff x="0" y="0"/>
            <a:chExt cx="17407725" cy="7506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407762" cy="750697"/>
            </a:xfrm>
            <a:custGeom>
              <a:avLst/>
              <a:gdLst/>
              <a:ahLst/>
              <a:cxnLst/>
              <a:rect r="r" b="b" t="t" l="l"/>
              <a:pathLst>
                <a:path h="750697" w="17407762">
                  <a:moveTo>
                    <a:pt x="0" y="0"/>
                  </a:moveTo>
                  <a:lnTo>
                    <a:pt x="17407762" y="0"/>
                  </a:lnTo>
                  <a:lnTo>
                    <a:pt x="17407762" y="750697"/>
                  </a:lnTo>
                  <a:lnTo>
                    <a:pt x="0" y="750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42" r="0" b="-73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9629" y="8820058"/>
            <a:ext cx="15648742" cy="416345"/>
            <a:chOff x="0" y="0"/>
            <a:chExt cx="17407725" cy="4631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7407762" cy="463169"/>
            </a:xfrm>
            <a:custGeom>
              <a:avLst/>
              <a:gdLst/>
              <a:ahLst/>
              <a:cxnLst/>
              <a:rect r="r" b="b" t="t" l="l"/>
              <a:pathLst>
                <a:path h="463169" w="17407762">
                  <a:moveTo>
                    <a:pt x="0" y="0"/>
                  </a:moveTo>
                  <a:lnTo>
                    <a:pt x="17407762" y="0"/>
                  </a:lnTo>
                  <a:lnTo>
                    <a:pt x="17407762" y="463169"/>
                  </a:lnTo>
                  <a:lnTo>
                    <a:pt x="0" y="463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8" r="0" b="-71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9629" y="9441196"/>
            <a:ext cx="15648742" cy="416345"/>
            <a:chOff x="0" y="0"/>
            <a:chExt cx="17407725" cy="46314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407762" cy="463169"/>
            </a:xfrm>
            <a:custGeom>
              <a:avLst/>
              <a:gdLst/>
              <a:ahLst/>
              <a:cxnLst/>
              <a:rect r="r" b="b" t="t" l="l"/>
              <a:pathLst>
                <a:path h="463169" w="17407762">
                  <a:moveTo>
                    <a:pt x="0" y="0"/>
                  </a:moveTo>
                  <a:lnTo>
                    <a:pt x="17407762" y="0"/>
                  </a:lnTo>
                  <a:lnTo>
                    <a:pt x="17407762" y="463169"/>
                  </a:lnTo>
                  <a:lnTo>
                    <a:pt x="0" y="463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18" r="0" b="-71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24604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6049" y="9043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50899" y="2601249"/>
            <a:ext cx="5685222" cy="7000221"/>
          </a:xfrm>
          <a:custGeom>
            <a:avLst/>
            <a:gdLst/>
            <a:ahLst/>
            <a:cxnLst/>
            <a:rect r="r" b="b" t="t" l="l"/>
            <a:pathLst>
              <a:path h="7000221" w="5685222">
                <a:moveTo>
                  <a:pt x="0" y="0"/>
                </a:moveTo>
                <a:lnTo>
                  <a:pt x="5685222" y="0"/>
                </a:lnTo>
                <a:lnTo>
                  <a:pt x="5685222" y="7000221"/>
                </a:lnTo>
                <a:lnTo>
                  <a:pt x="0" y="7000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5" t="-1497" r="-4235" b="-12669"/>
            </a:stretch>
          </a:blipFill>
          <a:ln w="47625" cap="sq">
            <a:solidFill>
              <a:srgbClr val="C8B99A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458240"/>
            <a:ext cx="908494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5. Kriteria Pembentukan Edge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2632" y="2382174"/>
            <a:ext cx="10391859" cy="151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sz="371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Graf</a:t>
            </a:r>
            <a:r>
              <a:rPr lang="en-US" sz="371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secara eksklusif hanya membentuk koneksi antar-akun jika memenuhi</a:t>
            </a:r>
            <a:r>
              <a:rPr lang="en-US" sz="371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3 syarat</a:t>
            </a:r>
            <a:r>
              <a:rPr lang="en-US" sz="371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9293" y="4206213"/>
            <a:ext cx="10671606" cy="395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988" indent="-300494" lvl="1">
              <a:lnSpc>
                <a:spcPts val="44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3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Unggahan Man</a:t>
            </a: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d</a:t>
            </a: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iri (Non-Retweet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): Akun mempostin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g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t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ks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se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cara 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man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ual, bukan sekadar menekan tombol share/retweet.</a:t>
            </a:r>
          </a:p>
          <a:p>
            <a:pPr algn="l" marL="600988" indent="-300494" lvl="1">
              <a:lnSpc>
                <a:spcPts val="44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Kemiripan Makna (</a:t>
            </a: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s_text ≥ 0.65</a:t>
            </a: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)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Algori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NLP mendeteksi bahwa pesan yang ditulis identik atau sangat mirip secara semantik.</a:t>
            </a:r>
          </a:p>
          <a:p>
            <a:pPr algn="l" marL="600988" indent="-300494" lvl="1">
              <a:lnSpc>
                <a:spcPts val="44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Keserempakan Waktu (Δt ≤ 1.800 s)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Pesan diunggah dalam jendela waktu maksimal 30 menit.</a:t>
            </a:r>
          </a:p>
          <a:p>
            <a:pPr algn="l">
              <a:lnSpc>
                <a:spcPts val="444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02632" y="7893615"/>
            <a:ext cx="10565177" cy="170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2"/>
              </a:lnSpc>
            </a:pPr>
            <a:r>
              <a:rPr lang="en-US" sz="2783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Koneks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 (e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dg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) yang lolos filt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 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ni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mencer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nk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an na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ra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ori</a:t>
            </a:r>
            <a:r>
              <a:rPr lang="en-US" sz="278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sinal yang memiliki indikasi pola terkoordinasi karena memiliki narasi tweet dan waktu posting yang mirip.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9" y="4112117"/>
            <a:ext cx="1117983" cy="1113791"/>
          </a:xfrm>
          <a:custGeom>
            <a:avLst/>
            <a:gdLst/>
            <a:ahLst/>
            <a:cxnLst/>
            <a:rect r="r" b="b" t="t" l="l"/>
            <a:pathLst>
              <a:path h="1113791" w="1117983">
                <a:moveTo>
                  <a:pt x="0" y="0"/>
                </a:moveTo>
                <a:lnTo>
                  <a:pt x="1117983" y="0"/>
                </a:lnTo>
                <a:lnTo>
                  <a:pt x="1117983" y="1113791"/>
                </a:lnTo>
                <a:lnTo>
                  <a:pt x="0" y="1113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5979" y="3972515"/>
            <a:ext cx="1071650" cy="1253392"/>
          </a:xfrm>
          <a:custGeom>
            <a:avLst/>
            <a:gdLst/>
            <a:ahLst/>
            <a:cxnLst/>
            <a:rect r="r" b="b" t="t" l="l"/>
            <a:pathLst>
              <a:path h="1253392" w="1071650">
                <a:moveTo>
                  <a:pt x="0" y="0"/>
                </a:moveTo>
                <a:lnTo>
                  <a:pt x="1071650" y="0"/>
                </a:lnTo>
                <a:lnTo>
                  <a:pt x="1071650" y="1253393"/>
                </a:lnTo>
                <a:lnTo>
                  <a:pt x="0" y="12533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7208" y="4024592"/>
            <a:ext cx="1740960" cy="1079395"/>
          </a:xfrm>
          <a:custGeom>
            <a:avLst/>
            <a:gdLst/>
            <a:ahLst/>
            <a:cxnLst/>
            <a:rect r="r" b="b" t="t" l="l"/>
            <a:pathLst>
              <a:path h="1079395" w="1740960">
                <a:moveTo>
                  <a:pt x="0" y="0"/>
                </a:moveTo>
                <a:lnTo>
                  <a:pt x="1740960" y="0"/>
                </a:lnTo>
                <a:lnTo>
                  <a:pt x="1740960" y="1079395"/>
                </a:lnTo>
                <a:lnTo>
                  <a:pt x="0" y="1079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2253" y="1708974"/>
            <a:ext cx="11093663" cy="70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9"/>
              </a:lnSpc>
            </a:pPr>
            <a:r>
              <a:rPr lang="en-US" sz="4543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6. Ringkasan Hubungan yang Terdeteksi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716" y="2508799"/>
            <a:ext cx="17664284" cy="49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37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Dari relation.csv: 2.357 edge teragregasi (berdasarkan 2.816 bukti mentah). Distribusi: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5914" y="3978437"/>
            <a:ext cx="3634675" cy="46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787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Semantic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5914" y="4484645"/>
            <a:ext cx="3760372" cy="143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37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1.929 edges (81,8%) — mayoritas hubungan adalah kemiripan narasi </a:t>
            </a:r>
            <a:r>
              <a:rPr lang="en-US" sz="2374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non-retweet.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8022" y="3978437"/>
            <a:ext cx="3634675" cy="46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787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Retweet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8022" y="4484645"/>
            <a:ext cx="3760372" cy="143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37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422 edges (17,9%) — mencerminkan shared retweet dari sumber tunggal.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20130" y="3978437"/>
            <a:ext cx="3634675" cy="46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787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Campuran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20130" y="4484645"/>
            <a:ext cx="3760372" cy="96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374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6 edges (0,3%) — kombinasi semantic + retweet.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2253" y="7070903"/>
            <a:ext cx="11473884" cy="114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2787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Sebagian besar pasangan tweet diposting dalam jarak </a:t>
            </a:r>
            <a:r>
              <a:rPr lang="en-US" sz="2787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kurang dari 15 detik, </a:t>
            </a:r>
            <a:r>
              <a:rPr lang="en-US" sz="2787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menunjukkan pola koordinasi yang cepat.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398449" y="1056739"/>
            <a:ext cx="1334179" cy="1342571"/>
          </a:xfrm>
          <a:custGeom>
            <a:avLst/>
            <a:gdLst/>
            <a:ahLst/>
            <a:cxnLst/>
            <a:rect r="r" b="b" t="t" l="l"/>
            <a:pathLst>
              <a:path h="1342571" w="1334179">
                <a:moveTo>
                  <a:pt x="0" y="0"/>
                </a:moveTo>
                <a:lnTo>
                  <a:pt x="1334179" y="0"/>
                </a:lnTo>
                <a:lnTo>
                  <a:pt x="1334179" y="1342571"/>
                </a:lnTo>
                <a:lnTo>
                  <a:pt x="0" y="1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3318" y="2690447"/>
            <a:ext cx="9747048" cy="152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496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Algoritma: Louvain (resolution=2.0, seed=42). Hasil: 41 kluster teridentifikasi, diberi status berdasarkan kekuatan koordinasi kluster yang menilai densitas dan ukuran.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100" y="5753100"/>
            <a:ext cx="5248866" cy="1745009"/>
            <a:chOff x="0" y="0"/>
            <a:chExt cx="6998487" cy="23266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98589" cy="2326767"/>
            </a:xfrm>
            <a:custGeom>
              <a:avLst/>
              <a:gdLst/>
              <a:ahLst/>
              <a:cxnLst/>
              <a:rect r="r" b="b" t="t" l="l"/>
              <a:pathLst>
                <a:path h="2326767" w="6998589">
                  <a:moveTo>
                    <a:pt x="0" y="59309"/>
                  </a:moveTo>
                  <a:cubicBezTo>
                    <a:pt x="0" y="26543"/>
                    <a:pt x="26543" y="0"/>
                    <a:pt x="59309" y="0"/>
                  </a:cubicBezTo>
                  <a:lnTo>
                    <a:pt x="6939280" y="0"/>
                  </a:lnTo>
                  <a:cubicBezTo>
                    <a:pt x="6972047" y="0"/>
                    <a:pt x="6998589" y="26543"/>
                    <a:pt x="6998589" y="59309"/>
                  </a:cubicBezTo>
                  <a:lnTo>
                    <a:pt x="6998589" y="2267458"/>
                  </a:lnTo>
                  <a:cubicBezTo>
                    <a:pt x="6998589" y="2300224"/>
                    <a:pt x="6972047" y="2326767"/>
                    <a:pt x="6939280" y="2326767"/>
                  </a:cubicBezTo>
                  <a:lnTo>
                    <a:pt x="59309" y="2326767"/>
                  </a:lnTo>
                  <a:cubicBezTo>
                    <a:pt x="26543" y="2326767"/>
                    <a:pt x="0" y="2300224"/>
                    <a:pt x="0" y="2267458"/>
                  </a:cubicBezTo>
                  <a:close/>
                </a:path>
              </a:pathLst>
            </a:custGeom>
            <a:solidFill>
              <a:srgbClr val="FEF5E7"/>
            </a:solidFill>
            <a:ln w="38100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375019" y="6090495"/>
            <a:ext cx="3410245" cy="43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Koordinasi kuat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5019" y="6570764"/>
            <a:ext cx="4555036" cy="45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18 kluster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19567" y="5753100"/>
            <a:ext cx="5248866" cy="1745009"/>
            <a:chOff x="0" y="0"/>
            <a:chExt cx="6998487" cy="23266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8589" cy="2326767"/>
            </a:xfrm>
            <a:custGeom>
              <a:avLst/>
              <a:gdLst/>
              <a:ahLst/>
              <a:cxnLst/>
              <a:rect r="r" b="b" t="t" l="l"/>
              <a:pathLst>
                <a:path h="2326767" w="6998589">
                  <a:moveTo>
                    <a:pt x="0" y="59309"/>
                  </a:moveTo>
                  <a:cubicBezTo>
                    <a:pt x="0" y="26543"/>
                    <a:pt x="26543" y="0"/>
                    <a:pt x="59309" y="0"/>
                  </a:cubicBezTo>
                  <a:lnTo>
                    <a:pt x="6939280" y="0"/>
                  </a:lnTo>
                  <a:cubicBezTo>
                    <a:pt x="6972047" y="0"/>
                    <a:pt x="6998589" y="26543"/>
                    <a:pt x="6998589" y="59309"/>
                  </a:cubicBezTo>
                  <a:lnTo>
                    <a:pt x="6998589" y="2267458"/>
                  </a:lnTo>
                  <a:cubicBezTo>
                    <a:pt x="6998589" y="2300224"/>
                    <a:pt x="6972047" y="2326767"/>
                    <a:pt x="6939280" y="2326767"/>
                  </a:cubicBezTo>
                  <a:lnTo>
                    <a:pt x="59309" y="2326767"/>
                  </a:lnTo>
                  <a:cubicBezTo>
                    <a:pt x="26543" y="2326767"/>
                    <a:pt x="0" y="2300224"/>
                    <a:pt x="0" y="2267458"/>
                  </a:cubicBezTo>
                  <a:close/>
                </a:path>
              </a:pathLst>
            </a:custGeom>
            <a:solidFill>
              <a:srgbClr val="FEF5E7"/>
            </a:solidFill>
            <a:ln w="38100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866487" y="6090495"/>
            <a:ext cx="2869089" cy="4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indikasi menengah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66487" y="6570764"/>
            <a:ext cx="4555036" cy="45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4 kluster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1025" y="5753100"/>
            <a:ext cx="5248866" cy="1745009"/>
            <a:chOff x="0" y="0"/>
            <a:chExt cx="6998487" cy="23266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8589" cy="2326767"/>
            </a:xfrm>
            <a:custGeom>
              <a:avLst/>
              <a:gdLst/>
              <a:ahLst/>
              <a:cxnLst/>
              <a:rect r="r" b="b" t="t" l="l"/>
              <a:pathLst>
                <a:path h="2326767" w="6998589">
                  <a:moveTo>
                    <a:pt x="0" y="59309"/>
                  </a:moveTo>
                  <a:cubicBezTo>
                    <a:pt x="0" y="26543"/>
                    <a:pt x="26543" y="0"/>
                    <a:pt x="59309" y="0"/>
                  </a:cubicBezTo>
                  <a:lnTo>
                    <a:pt x="6939280" y="0"/>
                  </a:lnTo>
                  <a:cubicBezTo>
                    <a:pt x="6972047" y="0"/>
                    <a:pt x="6998589" y="26543"/>
                    <a:pt x="6998589" y="59309"/>
                  </a:cubicBezTo>
                  <a:lnTo>
                    <a:pt x="6998589" y="2267458"/>
                  </a:lnTo>
                  <a:cubicBezTo>
                    <a:pt x="6998589" y="2300224"/>
                    <a:pt x="6972047" y="2326767"/>
                    <a:pt x="6939280" y="2326767"/>
                  </a:cubicBezTo>
                  <a:lnTo>
                    <a:pt x="59309" y="2326767"/>
                  </a:lnTo>
                  <a:cubicBezTo>
                    <a:pt x="26543" y="2326767"/>
                    <a:pt x="0" y="2300224"/>
                    <a:pt x="0" y="2267458"/>
                  </a:cubicBezTo>
                  <a:close/>
                </a:path>
              </a:pathLst>
            </a:custGeom>
            <a:solidFill>
              <a:srgbClr val="FEF5E7"/>
            </a:solidFill>
            <a:ln w="38100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57945" y="6090495"/>
            <a:ext cx="3410245" cy="43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Indikasi lemah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7945" y="6570764"/>
            <a:ext cx="4555036" cy="45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18 kluster (kecil / bukti minim)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100" y="7740701"/>
            <a:ext cx="16231791" cy="1745009"/>
            <a:chOff x="0" y="0"/>
            <a:chExt cx="21642388" cy="23266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42451" cy="2326767"/>
            </a:xfrm>
            <a:custGeom>
              <a:avLst/>
              <a:gdLst/>
              <a:ahLst/>
              <a:cxnLst/>
              <a:rect r="r" b="b" t="t" l="l"/>
              <a:pathLst>
                <a:path h="2326767" w="21642451">
                  <a:moveTo>
                    <a:pt x="0" y="59309"/>
                  </a:moveTo>
                  <a:cubicBezTo>
                    <a:pt x="0" y="26543"/>
                    <a:pt x="26543" y="0"/>
                    <a:pt x="59309" y="0"/>
                  </a:cubicBezTo>
                  <a:lnTo>
                    <a:pt x="21583142" y="0"/>
                  </a:lnTo>
                  <a:cubicBezTo>
                    <a:pt x="21615907" y="0"/>
                    <a:pt x="21642451" y="26543"/>
                    <a:pt x="21642451" y="59309"/>
                  </a:cubicBezTo>
                  <a:lnTo>
                    <a:pt x="21642451" y="2267458"/>
                  </a:lnTo>
                  <a:cubicBezTo>
                    <a:pt x="21642451" y="2300224"/>
                    <a:pt x="21615907" y="2326767"/>
                    <a:pt x="21583142" y="2326767"/>
                  </a:cubicBezTo>
                  <a:lnTo>
                    <a:pt x="59309" y="2326767"/>
                  </a:lnTo>
                  <a:cubicBezTo>
                    <a:pt x="26543" y="2326767"/>
                    <a:pt x="0" y="2300224"/>
                    <a:pt x="0" y="2267458"/>
                  </a:cubicBezTo>
                  <a:close/>
                </a:path>
              </a:pathLst>
            </a:custGeom>
            <a:solidFill>
              <a:srgbClr val="FEF5E7"/>
            </a:solidFill>
            <a:ln w="38100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83469" y="1687405"/>
            <a:ext cx="6103868" cy="3760834"/>
          </a:xfrm>
          <a:custGeom>
            <a:avLst/>
            <a:gdLst/>
            <a:ahLst/>
            <a:cxnLst/>
            <a:rect r="r" b="b" t="t" l="l"/>
            <a:pathLst>
              <a:path h="3760834" w="6103868">
                <a:moveTo>
                  <a:pt x="0" y="0"/>
                </a:moveTo>
                <a:lnTo>
                  <a:pt x="6103868" y="0"/>
                </a:lnTo>
                <a:lnTo>
                  <a:pt x="6103868" y="3760833"/>
                </a:lnTo>
                <a:lnTo>
                  <a:pt x="0" y="376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19" t="-6399" r="-5069" b="-10513"/>
            </a:stretch>
          </a:blipFill>
          <a:ln w="38100" cap="sq">
            <a:solidFill>
              <a:srgbClr val="D9CDBA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047150" y="803824"/>
            <a:ext cx="8531066" cy="65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7. Deteksi Komunitas (Clustering)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5019" y="8078095"/>
            <a:ext cx="3753450" cy="43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Pola cenderung organik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019" y="8558365"/>
            <a:ext cx="15537952" cy="45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1 kluster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150" y="3175987"/>
            <a:ext cx="4521482" cy="2835916"/>
            <a:chOff x="0" y="0"/>
            <a:chExt cx="6028642" cy="3781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28668" cy="3781298"/>
            </a:xfrm>
            <a:custGeom>
              <a:avLst/>
              <a:gdLst/>
              <a:ahLst/>
              <a:cxnLst/>
              <a:rect r="r" b="b" t="t" l="l"/>
              <a:pathLst>
                <a:path h="3781298" w="6028668">
                  <a:moveTo>
                    <a:pt x="0" y="58928"/>
                  </a:moveTo>
                  <a:cubicBezTo>
                    <a:pt x="0" y="26416"/>
                    <a:pt x="52646" y="0"/>
                    <a:pt x="117440" y="0"/>
                  </a:cubicBezTo>
                  <a:lnTo>
                    <a:pt x="5911253" y="0"/>
                  </a:lnTo>
                  <a:cubicBezTo>
                    <a:pt x="5976047" y="0"/>
                    <a:pt x="6028668" y="26416"/>
                    <a:pt x="6028668" y="58928"/>
                  </a:cubicBezTo>
                  <a:lnTo>
                    <a:pt x="6028668" y="3722370"/>
                  </a:lnTo>
                  <a:cubicBezTo>
                    <a:pt x="6028668" y="3754882"/>
                    <a:pt x="5976047" y="3781298"/>
                    <a:pt x="5911253" y="3781298"/>
                  </a:cubicBezTo>
                  <a:lnTo>
                    <a:pt x="117440" y="3781298"/>
                  </a:lnTo>
                  <a:cubicBezTo>
                    <a:pt x="52646" y="3781298"/>
                    <a:pt x="0" y="3754882"/>
                    <a:pt x="0" y="3722370"/>
                  </a:cubicBezTo>
                  <a:close/>
                </a:path>
              </a:pathLst>
            </a:custGeom>
            <a:blipFill>
              <a:blip r:embed="rId3"/>
              <a:stretch>
                <a:fillRect l="-6023" t="-13896" r="0" b="-774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38645" y="4306491"/>
            <a:ext cx="285750" cy="285750"/>
            <a:chOff x="0" y="0"/>
            <a:chExt cx="381000" cy="381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65849" y="3175987"/>
            <a:ext cx="4486005" cy="2835916"/>
            <a:chOff x="0" y="0"/>
            <a:chExt cx="5981341" cy="3781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1366" cy="3781298"/>
            </a:xfrm>
            <a:custGeom>
              <a:avLst/>
              <a:gdLst/>
              <a:ahLst/>
              <a:cxnLst/>
              <a:rect r="r" b="b" t="t" l="l"/>
              <a:pathLst>
                <a:path h="3781298" w="5981366">
                  <a:moveTo>
                    <a:pt x="0" y="58928"/>
                  </a:moveTo>
                  <a:cubicBezTo>
                    <a:pt x="0" y="26416"/>
                    <a:pt x="52233" y="0"/>
                    <a:pt x="116519" y="0"/>
                  </a:cubicBezTo>
                  <a:lnTo>
                    <a:pt x="5864872" y="0"/>
                  </a:lnTo>
                  <a:cubicBezTo>
                    <a:pt x="5929158" y="0"/>
                    <a:pt x="5981366" y="26416"/>
                    <a:pt x="5981366" y="58928"/>
                  </a:cubicBezTo>
                  <a:lnTo>
                    <a:pt x="5981366" y="3722370"/>
                  </a:lnTo>
                  <a:cubicBezTo>
                    <a:pt x="5981366" y="3754882"/>
                    <a:pt x="5929158" y="3781298"/>
                    <a:pt x="5864872" y="3781298"/>
                  </a:cubicBezTo>
                  <a:lnTo>
                    <a:pt x="116519" y="3781298"/>
                  </a:lnTo>
                  <a:cubicBezTo>
                    <a:pt x="52233" y="3781298"/>
                    <a:pt x="0" y="3754882"/>
                    <a:pt x="0" y="3722370"/>
                  </a:cubicBezTo>
                  <a:close/>
                </a:path>
              </a:pathLst>
            </a:custGeom>
            <a:blipFill>
              <a:blip r:embed="rId5"/>
              <a:stretch>
                <a:fillRect l="-9415" t="-17132" r="-9691" b="-184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57345" y="4306491"/>
            <a:ext cx="285750" cy="285750"/>
            <a:chOff x="0" y="0"/>
            <a:chExt cx="381000" cy="381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70970" y="3405692"/>
            <a:ext cx="4734339" cy="2835916"/>
            <a:chOff x="0" y="0"/>
            <a:chExt cx="6312452" cy="3781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12477" cy="3781298"/>
            </a:xfrm>
            <a:custGeom>
              <a:avLst/>
              <a:gdLst/>
              <a:ahLst/>
              <a:cxnLst/>
              <a:rect r="r" b="b" t="t" l="l"/>
              <a:pathLst>
                <a:path h="3781298" w="6312477">
                  <a:moveTo>
                    <a:pt x="0" y="58928"/>
                  </a:moveTo>
                  <a:cubicBezTo>
                    <a:pt x="0" y="26416"/>
                    <a:pt x="55124" y="0"/>
                    <a:pt x="122969" y="0"/>
                  </a:cubicBezTo>
                  <a:lnTo>
                    <a:pt x="6189536" y="0"/>
                  </a:lnTo>
                  <a:cubicBezTo>
                    <a:pt x="6257381" y="0"/>
                    <a:pt x="6312477" y="26416"/>
                    <a:pt x="6312477" y="58928"/>
                  </a:cubicBezTo>
                  <a:lnTo>
                    <a:pt x="6312477" y="3722370"/>
                  </a:lnTo>
                  <a:cubicBezTo>
                    <a:pt x="6312477" y="3754882"/>
                    <a:pt x="6257381" y="3781298"/>
                    <a:pt x="6189536" y="3781298"/>
                  </a:cubicBezTo>
                  <a:lnTo>
                    <a:pt x="122969" y="3781298"/>
                  </a:lnTo>
                  <a:cubicBezTo>
                    <a:pt x="55124" y="3781298"/>
                    <a:pt x="0" y="3754882"/>
                    <a:pt x="0" y="3722370"/>
                  </a:cubicBezTo>
                  <a:close/>
                </a:path>
              </a:pathLst>
            </a:custGeom>
            <a:blipFill>
              <a:blip r:embed="rId6"/>
              <a:stretch>
                <a:fillRect l="0" t="-1236" r="0" b="-123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7150" y="1090612"/>
            <a:ext cx="9716243" cy="71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8. Kluster Unggulan &amp; Interpretasi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50" y="2249091"/>
            <a:ext cx="17108091" cy="47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Contoh kluster dengan skor koordinasi tinggi (ringkasan):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50" y="6364786"/>
            <a:ext cx="1466691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Cluster 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150" y="6847884"/>
            <a:ext cx="5067611" cy="18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21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· Avg Similiarity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0,914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· Median Jeda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6 detik </a:t>
            </a:r>
          </a:p>
          <a:p>
            <a:pPr algn="l">
              <a:lnSpc>
                <a:spcPts val="3643"/>
              </a:lnSpc>
            </a:pP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Tweet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Hitung mundur dan ajakan untuk mendukung ganjar pranowo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5849" y="6364786"/>
            <a:ext cx="1378585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Cluster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0730" y="6951116"/>
            <a:ext cx="5156302" cy="2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17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· Avg Similiarity 0,915 · Median Jeda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5 detik 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· </a:t>
            </a:r>
          </a:p>
          <a:p>
            <a:pPr algn="l">
              <a:lnSpc>
                <a:spcPts val="3643"/>
              </a:lnSpc>
            </a:pP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Tweet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Menyatakan Ganjar menilai hadirnya psikolog di puskesmas memberikan dampak positif bagi kesehatan nasional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84548" y="6364786"/>
            <a:ext cx="1437957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Cluster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6089" y="6786477"/>
            <a:ext cx="5156302" cy="18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13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· Avg Similiarity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1,00 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· Median Jeda </a:t>
            </a: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6 detik</a:t>
            </a:r>
          </a:p>
          <a:p>
            <a:pPr algn="l">
              <a:lnSpc>
                <a:spcPts val="3643"/>
              </a:lnSpc>
            </a:pPr>
            <a:r>
              <a:rPr lang="en-US" sz="2300" b="tru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Tweet</a:t>
            </a:r>
            <a:r>
              <a:rPr lang="en-US" sz="2300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Narasi membebaskan hutang nelayan dengan memilih Ganjar Pranowo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132" y="262307"/>
            <a:ext cx="6988449" cy="147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9"/>
              </a:lnSpc>
              <a:spcBef>
                <a:spcPct val="0"/>
              </a:spcBef>
            </a:pPr>
            <a:r>
              <a:rPr lang="en-US" b="true" sz="4270" strike="noStrike" u="non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Detail Analisis: Cluster 0</a:t>
            </a:r>
            <a:r>
              <a:rPr lang="en-US" sz="4270" strike="noStrike" u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 - </a:t>
            </a:r>
            <a:r>
              <a:rPr lang="en-US" sz="4270" strike="noStrike" u="non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Koordinasi Kuat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10726" y="1944525"/>
            <a:ext cx="3789432" cy="1229005"/>
            <a:chOff x="0" y="0"/>
            <a:chExt cx="4699000" cy="152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699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6527" y="2111965"/>
            <a:ext cx="3297830" cy="6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7"/>
              </a:lnSpc>
              <a:spcBef>
                <a:spcPct val="0"/>
              </a:spcBef>
            </a:pPr>
            <a:r>
              <a:rPr lang="en-US" b="true" sz="3640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527" y="2590085"/>
            <a:ext cx="3297830" cy="3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04992" y="1944525"/>
            <a:ext cx="3789432" cy="1229005"/>
            <a:chOff x="0" y="0"/>
            <a:chExt cx="4699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99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0793" y="2111965"/>
            <a:ext cx="3297830" cy="6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7"/>
              </a:lnSpc>
              <a:spcBef>
                <a:spcPct val="0"/>
              </a:spcBef>
            </a:pPr>
            <a:r>
              <a:rPr lang="en-US" b="true" sz="3640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210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0793" y="2591450"/>
            <a:ext cx="3297830" cy="3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Edge (Bukti)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0726" y="3378364"/>
            <a:ext cx="3789432" cy="1229005"/>
            <a:chOff x="0" y="0"/>
            <a:chExt cx="4699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699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56527" y="3545804"/>
            <a:ext cx="3297830" cy="6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7"/>
              </a:lnSpc>
              <a:spcBef>
                <a:spcPct val="0"/>
              </a:spcBef>
            </a:pPr>
            <a:r>
              <a:rPr lang="en-US" b="true" sz="3640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1.0000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6527" y="4023924"/>
            <a:ext cx="3297830" cy="3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Density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04992" y="3378364"/>
            <a:ext cx="3789432" cy="1229005"/>
            <a:chOff x="0" y="0"/>
            <a:chExt cx="4699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99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950793" y="3545804"/>
            <a:ext cx="3297830" cy="6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7"/>
              </a:lnSpc>
              <a:spcBef>
                <a:spcPct val="0"/>
              </a:spcBef>
            </a:pPr>
            <a:r>
              <a:rPr lang="en-US" b="true" sz="3640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91.44%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50793" y="4023924"/>
            <a:ext cx="3297830" cy="3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Kemiripan Teks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10726" y="4914620"/>
            <a:ext cx="2458010" cy="1229005"/>
            <a:chOff x="0" y="0"/>
            <a:chExt cx="3048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048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5560" y="5094454"/>
            <a:ext cx="2048342" cy="50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3"/>
              </a:lnSpc>
              <a:spcBef>
                <a:spcPct val="0"/>
              </a:spcBef>
            </a:pPr>
            <a:r>
              <a:rPr lang="en-US" b="true" sz="299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6.0 detik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5560" y="5532426"/>
            <a:ext cx="2048342" cy="31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Jeda Waktu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373570" y="4914620"/>
            <a:ext cx="2458010" cy="1229005"/>
            <a:chOff x="0" y="0"/>
            <a:chExt cx="3048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048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78404" y="5532426"/>
            <a:ext cx="2048342" cy="31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Umur Akun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036414" y="4914620"/>
            <a:ext cx="2458010" cy="1229005"/>
            <a:chOff x="0" y="0"/>
            <a:chExt cx="3048000" cy="152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048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241248" y="5094454"/>
            <a:ext cx="2048342" cy="50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3"/>
              </a:lnSpc>
              <a:spcBef>
                <a:spcPct val="0"/>
              </a:spcBef>
            </a:pPr>
            <a:r>
              <a:rPr lang="en-US" b="true" sz="299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0.00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41248" y="5532426"/>
            <a:ext cx="2048342" cy="31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Followers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0132" y="6532007"/>
            <a:ext cx="2857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Contoh Tweet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10726" y="7130177"/>
            <a:ext cx="9653576" cy="910644"/>
            <a:chOff x="0" y="0"/>
            <a:chExt cx="10097282" cy="952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97282" cy="952500"/>
            </a:xfrm>
            <a:custGeom>
              <a:avLst/>
              <a:gdLst/>
              <a:ahLst/>
              <a:cxnLst/>
              <a:rect r="r" b="b" t="t" l="l"/>
              <a:pathLst>
                <a:path h="952500" w="10097282">
                  <a:moveTo>
                    <a:pt x="99644" y="0"/>
                  </a:moveTo>
                  <a:lnTo>
                    <a:pt x="9997638" y="0"/>
                  </a:lnTo>
                  <a:cubicBezTo>
                    <a:pt x="10052670" y="0"/>
                    <a:pt x="10097282" y="42645"/>
                    <a:pt x="10097282" y="95250"/>
                  </a:cubicBezTo>
                  <a:lnTo>
                    <a:pt x="10097282" y="857250"/>
                  </a:lnTo>
                  <a:cubicBezTo>
                    <a:pt x="10097282" y="909855"/>
                    <a:pt x="10052670" y="952500"/>
                    <a:pt x="9997638" y="952500"/>
                  </a:cubicBezTo>
                  <a:lnTo>
                    <a:pt x="99644" y="952500"/>
                  </a:lnTo>
                  <a:cubicBezTo>
                    <a:pt x="44612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4612" y="0"/>
                    <a:pt x="996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097282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4767" y="7148131"/>
            <a:ext cx="9145493" cy="77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111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@anncmpunk2</a:t>
            </a:r>
            <a:r>
              <a:rPr lang="en-US" sz="211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"Februari 2024, gue udah count down buat Hajatan demokrasi, guys! Yuk, hitung mundur buat memilih Ganjar Pranowo. #GanjarMahfudRebound #JNK"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10726" y="8186524"/>
            <a:ext cx="9653576" cy="910644"/>
            <a:chOff x="0" y="0"/>
            <a:chExt cx="10097282" cy="952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97282" cy="952500"/>
            </a:xfrm>
            <a:custGeom>
              <a:avLst/>
              <a:gdLst/>
              <a:ahLst/>
              <a:cxnLst/>
              <a:rect r="r" b="b" t="t" l="l"/>
              <a:pathLst>
                <a:path h="952500" w="10097282">
                  <a:moveTo>
                    <a:pt x="99644" y="0"/>
                  </a:moveTo>
                  <a:lnTo>
                    <a:pt x="9997638" y="0"/>
                  </a:lnTo>
                  <a:cubicBezTo>
                    <a:pt x="10052670" y="0"/>
                    <a:pt x="10097282" y="42645"/>
                    <a:pt x="10097282" y="95250"/>
                  </a:cubicBezTo>
                  <a:lnTo>
                    <a:pt x="10097282" y="857250"/>
                  </a:lnTo>
                  <a:cubicBezTo>
                    <a:pt x="10097282" y="909855"/>
                    <a:pt x="10052670" y="952500"/>
                    <a:pt x="9997638" y="952500"/>
                  </a:cubicBezTo>
                  <a:lnTo>
                    <a:pt x="99644" y="952500"/>
                  </a:lnTo>
                  <a:cubicBezTo>
                    <a:pt x="44612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4612" y="0"/>
                    <a:pt x="996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097282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64767" y="8156853"/>
            <a:ext cx="9145493" cy="85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  <a:spcBef>
                <a:spcPct val="0"/>
              </a:spcBef>
            </a:pPr>
            <a:r>
              <a:rPr lang="en-US" b="true" sz="2309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@3joi1m4zm5ghq1</a:t>
            </a:r>
            <a:r>
              <a:rPr lang="en-US" sz="230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"Februari 2024, gue udah count down buat Indonesian Democratic Party, guys! ...#GanjarMahfudRebound #JNK"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10726" y="9242872"/>
            <a:ext cx="9653576" cy="910644"/>
            <a:chOff x="0" y="0"/>
            <a:chExt cx="10097282" cy="952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97282" cy="952500"/>
            </a:xfrm>
            <a:custGeom>
              <a:avLst/>
              <a:gdLst/>
              <a:ahLst/>
              <a:cxnLst/>
              <a:rect r="r" b="b" t="t" l="l"/>
              <a:pathLst>
                <a:path h="952500" w="10097282">
                  <a:moveTo>
                    <a:pt x="99644" y="0"/>
                  </a:moveTo>
                  <a:lnTo>
                    <a:pt x="9997638" y="0"/>
                  </a:lnTo>
                  <a:cubicBezTo>
                    <a:pt x="10052670" y="0"/>
                    <a:pt x="10097282" y="42645"/>
                    <a:pt x="10097282" y="95250"/>
                  </a:cubicBezTo>
                  <a:lnTo>
                    <a:pt x="10097282" y="857250"/>
                  </a:lnTo>
                  <a:cubicBezTo>
                    <a:pt x="10097282" y="909855"/>
                    <a:pt x="10052670" y="952500"/>
                    <a:pt x="9997638" y="952500"/>
                  </a:cubicBezTo>
                  <a:lnTo>
                    <a:pt x="99644" y="952500"/>
                  </a:lnTo>
                  <a:cubicBezTo>
                    <a:pt x="44612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4612" y="0"/>
                    <a:pt x="996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097282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64767" y="9213200"/>
            <a:ext cx="9145493" cy="85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  <a:spcBef>
                <a:spcPct val="0"/>
              </a:spcBef>
            </a:pPr>
            <a:r>
              <a:rPr lang="en-US" b="true" sz="2309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@kc28ejlhbein2</a:t>
            </a:r>
            <a:r>
              <a:rPr lang="en-US" sz="230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"Februari 2024, gue udah count down buat Pesta demokrasi, guys! ...#GanjarMahfudRebound #JNK"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580274" y="1570120"/>
            <a:ext cx="8311971" cy="5213347"/>
            <a:chOff x="0" y="0"/>
            <a:chExt cx="6028642" cy="378122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28668" cy="3781298"/>
            </a:xfrm>
            <a:custGeom>
              <a:avLst/>
              <a:gdLst/>
              <a:ahLst/>
              <a:cxnLst/>
              <a:rect r="r" b="b" t="t" l="l"/>
              <a:pathLst>
                <a:path h="3781298" w="6028668">
                  <a:moveTo>
                    <a:pt x="0" y="58928"/>
                  </a:moveTo>
                  <a:cubicBezTo>
                    <a:pt x="0" y="26416"/>
                    <a:pt x="52646" y="0"/>
                    <a:pt x="117440" y="0"/>
                  </a:cubicBezTo>
                  <a:lnTo>
                    <a:pt x="5911253" y="0"/>
                  </a:lnTo>
                  <a:cubicBezTo>
                    <a:pt x="5976047" y="0"/>
                    <a:pt x="6028668" y="26416"/>
                    <a:pt x="6028668" y="58928"/>
                  </a:cubicBezTo>
                  <a:lnTo>
                    <a:pt x="6028668" y="3722370"/>
                  </a:lnTo>
                  <a:cubicBezTo>
                    <a:pt x="6028668" y="3754882"/>
                    <a:pt x="5976047" y="3781298"/>
                    <a:pt x="5911253" y="3781298"/>
                  </a:cubicBezTo>
                  <a:lnTo>
                    <a:pt x="117440" y="3781298"/>
                  </a:lnTo>
                  <a:cubicBezTo>
                    <a:pt x="52646" y="3781298"/>
                    <a:pt x="0" y="3754882"/>
                    <a:pt x="0" y="3722370"/>
                  </a:cubicBezTo>
                  <a:lnTo>
                    <a:pt x="0" y="58928"/>
                  </a:lnTo>
                  <a:close/>
                </a:path>
              </a:pathLst>
            </a:custGeom>
            <a:blipFill>
              <a:blip r:embed="rId2"/>
              <a:stretch>
                <a:fillRect l="-6023" t="-13896" r="0" b="-7741"/>
              </a:stretch>
            </a:blipFill>
            <a:ln w="47625" cap="rnd">
              <a:solidFill>
                <a:srgbClr val="C8B99A"/>
              </a:solidFill>
              <a:prstDash val="solid"/>
              <a:round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3617632" y="5089674"/>
            <a:ext cx="2048342" cy="50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3"/>
              </a:lnSpc>
              <a:spcBef>
                <a:spcPct val="0"/>
              </a:spcBef>
            </a:pPr>
            <a:r>
              <a:rPr lang="en-US" b="true" sz="2995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7.3 Tahun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628" y="9328796"/>
            <a:ext cx="9709801" cy="958204"/>
            <a:chOff x="0" y="0"/>
            <a:chExt cx="9652000" cy="95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8149" y="9384675"/>
            <a:ext cx="9198759" cy="73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6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@roberts_fr1834</a:t>
            </a:r>
            <a:r>
              <a:rPr lang="en-US" sz="2025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"Dengan legislasi ini, Ganjar Pranowo Mahfud MD berupaya menciptakan lingkungan pencegahan masalah kesehatan mental #GanjarMahfudRebound #JNK"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2628" y="8217279"/>
            <a:ext cx="9709801" cy="958204"/>
            <a:chOff x="0" y="0"/>
            <a:chExt cx="9652000" cy="95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18149" y="8263305"/>
            <a:ext cx="9198759" cy="75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9"/>
              </a:lnSpc>
              <a:spcBef>
                <a:spcPct val="0"/>
              </a:spcBef>
            </a:pPr>
            <a:r>
              <a:rPr lang="en-US" b="true" sz="2063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@acelb65682227</a:t>
            </a:r>
            <a:r>
              <a:rPr lang="en-US" sz="206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"Capres Ganjar Pranowo yakin penempatan psikolog di puskesmas akan memberikan dampak positif bagi kesejahteraan mental #GanjarMahfudRebound #JNK"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678" y="262875"/>
            <a:ext cx="7414164" cy="14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7"/>
              </a:lnSpc>
              <a:spcBef>
                <a:spcPct val="0"/>
              </a:spcBef>
            </a:pPr>
            <a:r>
              <a:rPr lang="en-US" b="true" sz="4269" strike="noStrike" u="non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Detail Analisis: Cluster 1</a:t>
            </a:r>
            <a:r>
              <a:rPr lang="en-US" sz="4269" strike="noStrike" u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 - </a:t>
            </a:r>
            <a:r>
              <a:rPr lang="en-US" sz="4269" strike="noStrike" u="non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Koordinasi Kuat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2628" y="1945117"/>
            <a:ext cx="3816505" cy="1237785"/>
            <a:chOff x="0" y="0"/>
            <a:chExt cx="4699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10185" y="2091198"/>
            <a:ext cx="3321391" cy="6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1"/>
              </a:lnSpc>
              <a:spcBef>
                <a:spcPct val="0"/>
              </a:spcBef>
            </a:pPr>
            <a:r>
              <a:rPr lang="en-US" b="true" sz="376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0185" y="2588752"/>
            <a:ext cx="3321391" cy="3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5"/>
              </a:lnSpc>
              <a:spcBef>
                <a:spcPct val="0"/>
              </a:spcBef>
            </a:pPr>
            <a:r>
              <a:rPr lang="en-US" sz="2032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85431" y="1945117"/>
            <a:ext cx="3816505" cy="1237785"/>
            <a:chOff x="0" y="0"/>
            <a:chExt cx="4699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032988" y="2091198"/>
            <a:ext cx="3321391" cy="6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1"/>
              </a:lnSpc>
              <a:spcBef>
                <a:spcPct val="0"/>
              </a:spcBef>
            </a:pPr>
            <a:r>
              <a:rPr lang="en-US" b="true" sz="376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94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32988" y="2590127"/>
            <a:ext cx="3321391" cy="3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5"/>
              </a:lnSpc>
              <a:spcBef>
                <a:spcPct val="0"/>
              </a:spcBef>
            </a:pPr>
            <a:r>
              <a:rPr lang="en-US" sz="2032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Edge (Bukti)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2628" y="3389200"/>
            <a:ext cx="3816505" cy="1237785"/>
            <a:chOff x="0" y="0"/>
            <a:chExt cx="4699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10185" y="3535281"/>
            <a:ext cx="3321391" cy="6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1"/>
              </a:lnSpc>
              <a:spcBef>
                <a:spcPct val="0"/>
              </a:spcBef>
            </a:pPr>
            <a:r>
              <a:rPr lang="en-US" b="true" sz="376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0.6912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0185" y="4032835"/>
            <a:ext cx="3321391" cy="3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5"/>
              </a:lnSpc>
              <a:spcBef>
                <a:spcPct val="0"/>
              </a:spcBef>
            </a:pPr>
            <a:r>
              <a:rPr lang="en-US" sz="2032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Density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785431" y="3389200"/>
            <a:ext cx="3816505" cy="1237785"/>
            <a:chOff x="0" y="0"/>
            <a:chExt cx="46990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32988" y="3535281"/>
            <a:ext cx="3321391" cy="6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1"/>
              </a:lnSpc>
              <a:spcBef>
                <a:spcPct val="0"/>
              </a:spcBef>
            </a:pPr>
            <a:r>
              <a:rPr lang="en-US" b="true" sz="376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91.55%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32988" y="4032835"/>
            <a:ext cx="3321391" cy="3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5"/>
              </a:lnSpc>
              <a:spcBef>
                <a:spcPct val="0"/>
              </a:spcBef>
            </a:pPr>
            <a:r>
              <a:rPr lang="en-US" sz="2032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Kemiripan Teks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2628" y="4936432"/>
            <a:ext cx="2475571" cy="1237785"/>
            <a:chOff x="0" y="0"/>
            <a:chExt cx="3048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8926" y="5101981"/>
            <a:ext cx="2062976" cy="53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311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4.5 detik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8926" y="5542384"/>
            <a:ext cx="2062976" cy="34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Jeda Waktu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444497" y="4936432"/>
            <a:ext cx="2475571" cy="1237785"/>
            <a:chOff x="0" y="0"/>
            <a:chExt cx="3048000" cy="152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650794" y="5101981"/>
            <a:ext cx="2062976" cy="53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3115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1.5 Bulan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50794" y="5542384"/>
            <a:ext cx="2062976" cy="34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Umur Akun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126365" y="4936432"/>
            <a:ext cx="2475571" cy="1237785"/>
            <a:chOff x="0" y="0"/>
            <a:chExt cx="3048000" cy="152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332662" y="5101981"/>
            <a:ext cx="2062976" cy="53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3115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0.00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332662" y="5542384"/>
            <a:ext cx="2062976" cy="34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Followers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1678" y="6411292"/>
            <a:ext cx="2857500" cy="49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b="true" sz="2892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Contoh Tweet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62628" y="7105762"/>
            <a:ext cx="9709801" cy="958204"/>
            <a:chOff x="0" y="0"/>
            <a:chExt cx="9652000" cy="952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18149" y="7161970"/>
            <a:ext cx="9198759" cy="72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1990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@wilson_cal60263</a:t>
            </a:r>
            <a:r>
              <a:rPr lang="en-US" sz="1990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"Dengan legislasi ini, Ganjar Pranowo Mahfud MD berupaya menciptakan lingkungan pencegahan masalah kesehatan mental #GanjarMahfudRebound #JNK"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632941" y="1394933"/>
            <a:ext cx="8268287" cy="5226960"/>
            <a:chOff x="0" y="0"/>
            <a:chExt cx="5981341" cy="37812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81366" cy="3781298"/>
            </a:xfrm>
            <a:custGeom>
              <a:avLst/>
              <a:gdLst/>
              <a:ahLst/>
              <a:cxnLst/>
              <a:rect r="r" b="b" t="t" l="l"/>
              <a:pathLst>
                <a:path h="3781298" w="5981366">
                  <a:moveTo>
                    <a:pt x="0" y="58928"/>
                  </a:moveTo>
                  <a:cubicBezTo>
                    <a:pt x="0" y="26416"/>
                    <a:pt x="52233" y="0"/>
                    <a:pt x="116519" y="0"/>
                  </a:cubicBezTo>
                  <a:lnTo>
                    <a:pt x="5864872" y="0"/>
                  </a:lnTo>
                  <a:cubicBezTo>
                    <a:pt x="5929158" y="0"/>
                    <a:pt x="5981366" y="26416"/>
                    <a:pt x="5981366" y="58928"/>
                  </a:cubicBezTo>
                  <a:lnTo>
                    <a:pt x="5981366" y="3722370"/>
                  </a:lnTo>
                  <a:cubicBezTo>
                    <a:pt x="5981366" y="3754882"/>
                    <a:pt x="5929158" y="3781298"/>
                    <a:pt x="5864872" y="3781298"/>
                  </a:cubicBezTo>
                  <a:lnTo>
                    <a:pt x="116519" y="3781298"/>
                  </a:lnTo>
                  <a:cubicBezTo>
                    <a:pt x="52233" y="3781298"/>
                    <a:pt x="0" y="3754882"/>
                    <a:pt x="0" y="3722370"/>
                  </a:cubicBezTo>
                  <a:lnTo>
                    <a:pt x="0" y="58928"/>
                  </a:lnTo>
                  <a:close/>
                </a:path>
              </a:pathLst>
            </a:custGeom>
            <a:blipFill>
              <a:blip r:embed="rId2"/>
              <a:stretch>
                <a:fillRect l="-9415" t="-17132" r="-9691" b="-18444"/>
              </a:stretch>
            </a:blipFill>
            <a:ln w="47625" cap="rnd">
              <a:solidFill>
                <a:srgbClr val="D9CDBA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37611"/>
            <a:ext cx="9525000" cy="14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7"/>
              </a:lnSpc>
              <a:spcBef>
                <a:spcPct val="0"/>
              </a:spcBef>
            </a:pPr>
            <a:r>
              <a:rPr lang="en-US" b="true" sz="4269" strike="noStrike" u="non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Detail Analisis: Cluster 2</a:t>
            </a:r>
            <a:r>
              <a:rPr lang="en-US" sz="4269" strike="noStrike" u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 - </a:t>
            </a:r>
            <a:r>
              <a:rPr lang="en-US" sz="4269" strike="noStrike" u="non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Koordinasi Kuat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53459" y="1819853"/>
            <a:ext cx="3905785" cy="1266741"/>
            <a:chOff x="0" y="0"/>
            <a:chExt cx="4699000" cy="152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06807" y="1976896"/>
            <a:ext cx="3399088" cy="65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4"/>
              </a:lnSpc>
              <a:spcBef>
                <a:spcPct val="0"/>
              </a:spcBef>
            </a:pPr>
            <a:r>
              <a:rPr lang="en-US" b="true" sz="3846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6807" y="2470072"/>
            <a:ext cx="3399088" cy="39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2"/>
              </a:lnSpc>
              <a:spcBef>
                <a:spcPct val="0"/>
              </a:spcBef>
            </a:pPr>
            <a:r>
              <a:rPr lang="en-US" sz="207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Akun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70367" y="1819853"/>
            <a:ext cx="3905785" cy="1266741"/>
            <a:chOff x="0" y="0"/>
            <a:chExt cx="4699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023715" y="1976896"/>
            <a:ext cx="3399088" cy="65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4"/>
              </a:lnSpc>
              <a:spcBef>
                <a:spcPct val="0"/>
              </a:spcBef>
            </a:pPr>
            <a:r>
              <a:rPr lang="en-US" b="true" sz="3846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78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23715" y="2471480"/>
            <a:ext cx="3399088" cy="39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2"/>
              </a:lnSpc>
              <a:spcBef>
                <a:spcPct val="0"/>
              </a:spcBef>
            </a:pPr>
            <a:r>
              <a:rPr lang="en-US" sz="207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Edge (Bukti)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459" y="3297718"/>
            <a:ext cx="3905785" cy="1266741"/>
            <a:chOff x="0" y="0"/>
            <a:chExt cx="4699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06807" y="3454761"/>
            <a:ext cx="3399088" cy="65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4"/>
              </a:lnSpc>
              <a:spcBef>
                <a:spcPct val="0"/>
              </a:spcBef>
            </a:pPr>
            <a:r>
              <a:rPr lang="en-US" b="true" sz="3846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1.0000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6807" y="3947937"/>
            <a:ext cx="3399088" cy="39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2"/>
              </a:lnSpc>
              <a:spcBef>
                <a:spcPct val="0"/>
              </a:spcBef>
            </a:pPr>
            <a:r>
              <a:rPr lang="en-US" sz="207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Density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70367" y="3297718"/>
            <a:ext cx="3905785" cy="1266741"/>
            <a:chOff x="0" y="0"/>
            <a:chExt cx="4699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9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699000">
                  <a:moveTo>
                    <a:pt x="152400" y="0"/>
                  </a:moveTo>
                  <a:lnTo>
                    <a:pt x="4546600" y="0"/>
                  </a:lnTo>
                  <a:cubicBezTo>
                    <a:pt x="4630768" y="0"/>
                    <a:pt x="4699000" y="68232"/>
                    <a:pt x="4699000" y="152400"/>
                  </a:cubicBezTo>
                  <a:lnTo>
                    <a:pt x="4699000" y="1371600"/>
                  </a:lnTo>
                  <a:cubicBezTo>
                    <a:pt x="4699000" y="1455768"/>
                    <a:pt x="4630768" y="1524000"/>
                    <a:pt x="4546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9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023715" y="3454761"/>
            <a:ext cx="3399088" cy="65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4"/>
              </a:lnSpc>
              <a:spcBef>
                <a:spcPct val="0"/>
              </a:spcBef>
            </a:pPr>
            <a:r>
              <a:rPr lang="en-US" b="true" sz="3846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100.00%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23715" y="3947937"/>
            <a:ext cx="3399088" cy="39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2"/>
              </a:lnSpc>
              <a:spcBef>
                <a:spcPct val="0"/>
              </a:spcBef>
            </a:pPr>
            <a:r>
              <a:rPr lang="en-US" sz="2073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Kemiripan Teks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3459" y="4881144"/>
            <a:ext cx="2533482" cy="1266741"/>
            <a:chOff x="0" y="0"/>
            <a:chExt cx="3048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64582" y="5048914"/>
            <a:ext cx="2111235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181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6.0 detik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4582" y="5501879"/>
            <a:ext cx="2111235" cy="35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sz="185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Jeda Waktu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398064" y="4881144"/>
            <a:ext cx="2533482" cy="1266741"/>
            <a:chOff x="0" y="0"/>
            <a:chExt cx="3048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609188" y="5048914"/>
            <a:ext cx="2111235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181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6.5 Tahun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09188" y="5501879"/>
            <a:ext cx="2111235" cy="35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Umur Akun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142670" y="4881144"/>
            <a:ext cx="2533482" cy="1266741"/>
            <a:chOff x="0" y="0"/>
            <a:chExt cx="3048000" cy="1524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353794" y="5048914"/>
            <a:ext cx="2111235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181" strike="noStrike" u="none">
                <a:solidFill>
                  <a:srgbClr val="5C7A4A"/>
                </a:solidFill>
                <a:latin typeface="Lora Bold"/>
                <a:ea typeface="Lora Bold"/>
                <a:cs typeface="Lora Bold"/>
                <a:sym typeface="Lora Bold"/>
              </a:rPr>
              <a:t>0.00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53794" y="5501879"/>
            <a:ext cx="2111235" cy="35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sz="185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Followers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6750" y="6414585"/>
            <a:ext cx="2857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Contoh Tweet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53459" y="8136520"/>
            <a:ext cx="9648772" cy="952181"/>
            <a:chOff x="0" y="0"/>
            <a:chExt cx="9652000" cy="952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07374" y="8220179"/>
            <a:ext cx="9140942" cy="67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7"/>
              </a:lnSpc>
              <a:spcBef>
                <a:spcPct val="0"/>
              </a:spcBef>
            </a:pPr>
            <a:r>
              <a:rPr lang="en-US" b="true" sz="1841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@AliaDodswo83686</a:t>
            </a:r>
            <a:r>
              <a:rPr lang="en-US" sz="184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"Nelayan tak bisa sendiri melawan kredit macet. Ganjar Pranowo, Mahfud MD, bersama kita ringankan beban mereka! #NelayanRingankanBeban #JNK #GanjarMahfudRebound"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53459" y="9241051"/>
            <a:ext cx="9648772" cy="952181"/>
            <a:chOff x="0" y="0"/>
            <a:chExt cx="9652000" cy="952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3459" y="7031990"/>
            <a:ext cx="9648772" cy="952181"/>
            <a:chOff x="0" y="0"/>
            <a:chExt cx="9652000" cy="952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5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652000">
                  <a:moveTo>
                    <a:pt x="95250" y="0"/>
                  </a:moveTo>
                  <a:lnTo>
                    <a:pt x="9556750" y="0"/>
                  </a:lnTo>
                  <a:cubicBezTo>
                    <a:pt x="9609355" y="0"/>
                    <a:pt x="9652000" y="42645"/>
                    <a:pt x="9652000" y="95250"/>
                  </a:cubicBezTo>
                  <a:lnTo>
                    <a:pt x="9652000" y="857250"/>
                  </a:lnTo>
                  <a:cubicBezTo>
                    <a:pt x="9652000" y="909855"/>
                    <a:pt x="9609355" y="952500"/>
                    <a:pt x="9556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652000" cy="1000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07374" y="9324710"/>
            <a:ext cx="9140942" cy="67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7"/>
              </a:lnSpc>
              <a:spcBef>
                <a:spcPct val="0"/>
              </a:spcBef>
            </a:pPr>
            <a:r>
              <a:rPr lang="en-US" b="true" sz="1841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@Rendibrekele</a:t>
            </a:r>
            <a:r>
              <a:rPr lang="en-US" sz="184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"Nelayan tak bisa sendiri melawan kredit macet. Ganjar Pranowo, Mahfud MD, bersama kita ringankan beban mereka! #NelayanRingankanBeban #JNK #GanjarMahfudRebound"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07374" y="7115649"/>
            <a:ext cx="9140942" cy="67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7"/>
              </a:lnSpc>
              <a:spcBef>
                <a:spcPct val="0"/>
              </a:spcBef>
            </a:pPr>
            <a:r>
              <a:rPr lang="en-US" b="true" sz="1841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@27x1fkmz4aj4</a:t>
            </a:r>
            <a:r>
              <a:rPr lang="en-US" sz="1841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: "Nelayan tak bisa sendiri melawan kredit macet. Ganjar Pranowo, Mahfud MD, bersama kita ringankan beban mereka! #NelayanRingankanBeban #JNK #GanjarMahfudRebound"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722918" y="1610303"/>
            <a:ext cx="8190758" cy="5016273"/>
            <a:chOff x="0" y="0"/>
            <a:chExt cx="6312452" cy="386594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12477" cy="3866017"/>
            </a:xfrm>
            <a:custGeom>
              <a:avLst/>
              <a:gdLst/>
              <a:ahLst/>
              <a:cxnLst/>
              <a:rect r="r" b="b" t="t" l="l"/>
              <a:pathLst>
                <a:path h="3866017" w="6312477">
                  <a:moveTo>
                    <a:pt x="0" y="60248"/>
                  </a:moveTo>
                  <a:cubicBezTo>
                    <a:pt x="0" y="27008"/>
                    <a:pt x="55124" y="0"/>
                    <a:pt x="122969" y="0"/>
                  </a:cubicBezTo>
                  <a:lnTo>
                    <a:pt x="6189536" y="0"/>
                  </a:lnTo>
                  <a:cubicBezTo>
                    <a:pt x="6257381" y="0"/>
                    <a:pt x="6312477" y="27008"/>
                    <a:pt x="6312477" y="60248"/>
                  </a:cubicBezTo>
                  <a:lnTo>
                    <a:pt x="6312477" y="3805770"/>
                  </a:lnTo>
                  <a:cubicBezTo>
                    <a:pt x="6312477" y="3839011"/>
                    <a:pt x="6257381" y="3866017"/>
                    <a:pt x="6189536" y="3866017"/>
                  </a:cubicBezTo>
                  <a:lnTo>
                    <a:pt x="122969" y="3866017"/>
                  </a:lnTo>
                  <a:cubicBezTo>
                    <a:pt x="55124" y="3866017"/>
                    <a:pt x="0" y="3839011"/>
                    <a:pt x="0" y="3805770"/>
                  </a:cubicBezTo>
                  <a:lnTo>
                    <a:pt x="0" y="60248"/>
                  </a:lnTo>
                  <a:close/>
                </a:path>
              </a:pathLst>
            </a:custGeom>
            <a:blipFill>
              <a:blip r:embed="rId2"/>
              <a:stretch>
                <a:fillRect l="0" t="-113" r="0" b="-113"/>
              </a:stretch>
            </a:blipFill>
            <a:ln w="28575" cap="rnd">
              <a:solidFill>
                <a:srgbClr val="D9CDBA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657225"/>
            <a:ext cx="57150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Kesimpulan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000" y="1412875"/>
            <a:ext cx="114300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A6F63"/>
                </a:solidFill>
                <a:latin typeface="Alegreya Sans"/>
                <a:ea typeface="Alegreya Sans"/>
                <a:cs typeface="Alegreya Sans"/>
                <a:sym typeface="Alegreya Sans"/>
              </a:rPr>
              <a:t>Temuan utama dari analisis Coordinated Inauthentic Behavior (CIB) pada data Pilpres 2024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2190750"/>
            <a:ext cx="16764000" cy="1905000"/>
            <a:chOff x="0" y="0"/>
            <a:chExt cx="22352000" cy="254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5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2352000">
                  <a:moveTo>
                    <a:pt x="254000" y="0"/>
                  </a:moveTo>
                  <a:lnTo>
                    <a:pt x="22098000" y="0"/>
                  </a:lnTo>
                  <a:cubicBezTo>
                    <a:pt x="22238280" y="0"/>
                    <a:pt x="22352000" y="113720"/>
                    <a:pt x="22352000" y="254000"/>
                  </a:cubicBezTo>
                  <a:lnTo>
                    <a:pt x="22352000" y="2286000"/>
                  </a:lnTo>
                  <a:cubicBezTo>
                    <a:pt x="22352000" y="2426280"/>
                    <a:pt x="22238280" y="2540000"/>
                    <a:pt x="2209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5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600" y="2381250"/>
            <a:ext cx="495300" cy="495300"/>
            <a:chOff x="0" y="0"/>
            <a:chExt cx="660400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147836" y="0"/>
                    <a:pt x="0" y="147836"/>
                    <a:pt x="0" y="330200"/>
                  </a:cubicBezTo>
                  <a:cubicBezTo>
                    <a:pt x="0" y="512564"/>
                    <a:pt x="147836" y="660400"/>
                    <a:pt x="330200" y="660400"/>
                  </a:cubicBezTo>
                  <a:cubicBezTo>
                    <a:pt x="512564" y="660400"/>
                    <a:pt x="660400" y="512564"/>
                    <a:pt x="660400" y="330200"/>
                  </a:cubicBezTo>
                  <a:cubicBezTo>
                    <a:pt x="660400" y="147836"/>
                    <a:pt x="512564" y="0"/>
                    <a:pt x="330200" y="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0600" y="2337435"/>
            <a:ext cx="495300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2308860"/>
            <a:ext cx="152400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Ditemukannya Pola Coordinated Inauthentic Behavior (CIB)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500" y="2743200"/>
            <a:ext cx="14104760" cy="8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istem mengidentifikasi pola perilaku terkoordinasi (CIB)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di dalam sampel data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. Sebagian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b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esa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keramaian narasi ter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b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uk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ti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diamplifikasi secara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tis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dan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bu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an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ru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p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kan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in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ter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aksi orga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n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ik masyaraka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2000" y="4286250"/>
            <a:ext cx="16764000" cy="1905000"/>
            <a:chOff x="0" y="0"/>
            <a:chExt cx="22352000" cy="254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5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2352000">
                  <a:moveTo>
                    <a:pt x="254000" y="0"/>
                  </a:moveTo>
                  <a:lnTo>
                    <a:pt x="22098000" y="0"/>
                  </a:lnTo>
                  <a:cubicBezTo>
                    <a:pt x="22238280" y="0"/>
                    <a:pt x="22352000" y="113720"/>
                    <a:pt x="22352000" y="254000"/>
                  </a:cubicBezTo>
                  <a:lnTo>
                    <a:pt x="22352000" y="2286000"/>
                  </a:lnTo>
                  <a:cubicBezTo>
                    <a:pt x="22352000" y="2426280"/>
                    <a:pt x="22238280" y="2540000"/>
                    <a:pt x="2209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35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0600" y="4476750"/>
            <a:ext cx="495300" cy="495300"/>
            <a:chOff x="0" y="0"/>
            <a:chExt cx="660400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147836" y="0"/>
                    <a:pt x="0" y="147836"/>
                    <a:pt x="0" y="330200"/>
                  </a:cubicBezTo>
                  <a:cubicBezTo>
                    <a:pt x="0" y="512564"/>
                    <a:pt x="147836" y="660400"/>
                    <a:pt x="330200" y="660400"/>
                  </a:cubicBezTo>
                  <a:cubicBezTo>
                    <a:pt x="512564" y="660400"/>
                    <a:pt x="660400" y="512564"/>
                    <a:pt x="660400" y="330200"/>
                  </a:cubicBezTo>
                  <a:cubicBezTo>
                    <a:pt x="660400" y="147836"/>
                    <a:pt x="512564" y="0"/>
                    <a:pt x="330200" y="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90600" y="4432935"/>
            <a:ext cx="495300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4404360"/>
            <a:ext cx="152400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Eksistensi Taktik Semantic Copypasta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4500" y="4806950"/>
            <a:ext cx="14424047" cy="8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rde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teksi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p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enggunaan 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ak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ik 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man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ic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Copyp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asta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secara masif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.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Alih-alih 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eka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r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-Re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wee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,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banyak akun mengunggah narasi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id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nt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dari nol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untuk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m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eng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el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bui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algoritma platform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s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ol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h-ol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h itu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dal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a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h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 opini publik yang 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indepe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nd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</a:t>
            </a: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2000" y="6381750"/>
            <a:ext cx="16764000" cy="3341048"/>
            <a:chOff x="0" y="0"/>
            <a:chExt cx="22352000" cy="44547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52000" cy="4454731"/>
            </a:xfrm>
            <a:custGeom>
              <a:avLst/>
              <a:gdLst/>
              <a:ahLst/>
              <a:cxnLst/>
              <a:rect r="r" b="b" t="t" l="l"/>
              <a:pathLst>
                <a:path h="4454731" w="22352000">
                  <a:moveTo>
                    <a:pt x="355600" y="0"/>
                  </a:moveTo>
                  <a:lnTo>
                    <a:pt x="21996400" y="0"/>
                  </a:lnTo>
                  <a:cubicBezTo>
                    <a:pt x="22192793" y="0"/>
                    <a:pt x="22352000" y="199445"/>
                    <a:pt x="22352000" y="445473"/>
                  </a:cubicBezTo>
                  <a:lnTo>
                    <a:pt x="22352000" y="4009258"/>
                  </a:lnTo>
                  <a:cubicBezTo>
                    <a:pt x="22352000" y="4255286"/>
                    <a:pt x="22192793" y="4454731"/>
                    <a:pt x="21996400" y="4454731"/>
                  </a:cubicBezTo>
                  <a:lnTo>
                    <a:pt x="355600" y="4454731"/>
                  </a:lnTo>
                  <a:cubicBezTo>
                    <a:pt x="159208" y="4454731"/>
                    <a:pt x="0" y="4255286"/>
                    <a:pt x="0" y="4009258"/>
                  </a:cubicBezTo>
                  <a:lnTo>
                    <a:pt x="0" y="445473"/>
                  </a:lnTo>
                  <a:cubicBezTo>
                    <a:pt x="0" y="199445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DB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352000" cy="4492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600" y="6572250"/>
            <a:ext cx="495300" cy="495300"/>
            <a:chOff x="0" y="0"/>
            <a:chExt cx="660400" cy="660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147836" y="0"/>
                    <a:pt x="0" y="147836"/>
                    <a:pt x="0" y="330200"/>
                  </a:cubicBezTo>
                  <a:cubicBezTo>
                    <a:pt x="0" y="512564"/>
                    <a:pt x="147836" y="660400"/>
                    <a:pt x="330200" y="660400"/>
                  </a:cubicBezTo>
                  <a:cubicBezTo>
                    <a:pt x="512564" y="660400"/>
                    <a:pt x="660400" y="512564"/>
                    <a:pt x="660400" y="330200"/>
                  </a:cubicBezTo>
                  <a:cubicBezTo>
                    <a:pt x="660400" y="147836"/>
                    <a:pt x="512564" y="0"/>
                    <a:pt x="330200" y="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90600" y="6528435"/>
            <a:ext cx="495300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14500" y="6499860"/>
            <a:ext cx="152400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3A3630"/>
                </a:solidFill>
                <a:latin typeface="Lora Bold"/>
                <a:ea typeface="Lora Bold"/>
                <a:cs typeface="Lora Bold"/>
                <a:sym typeface="Lora Bold"/>
              </a:rPr>
              <a:t>Indikator Anomali Kuantitatif (Bukti Matematis)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4500" y="6823710"/>
            <a:ext cx="1524000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3A3630"/>
                </a:solidFill>
                <a:latin typeface="Alegreya Sans"/>
                <a:ea typeface="Alegreya Sans"/>
                <a:cs typeface="Alegreya Sans"/>
                <a:sym typeface="Alegreya Sans"/>
              </a:rPr>
              <a:t>Kesimpulan koordinasi sistematis didukung oleh 3 anomali data yang ekstrem yang didapat: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7381875"/>
            <a:ext cx="5143500" cy="1876822"/>
            <a:chOff x="0" y="0"/>
            <a:chExt cx="6858000" cy="25024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58000" cy="2502430"/>
            </a:xfrm>
            <a:custGeom>
              <a:avLst/>
              <a:gdLst/>
              <a:ahLst/>
              <a:cxnLst/>
              <a:rect r="r" b="b" t="t" l="l"/>
              <a:pathLst>
                <a:path h="2502430" w="6858000">
                  <a:moveTo>
                    <a:pt x="165100" y="0"/>
                  </a:moveTo>
                  <a:lnTo>
                    <a:pt x="6692900" y="0"/>
                  </a:lnTo>
                  <a:cubicBezTo>
                    <a:pt x="6784082" y="0"/>
                    <a:pt x="6858000" y="112038"/>
                    <a:pt x="6858000" y="250243"/>
                  </a:cubicBezTo>
                  <a:lnTo>
                    <a:pt x="6858000" y="2252187"/>
                  </a:lnTo>
                  <a:cubicBezTo>
                    <a:pt x="6858000" y="2390392"/>
                    <a:pt x="6784082" y="2502430"/>
                    <a:pt x="6692900" y="2502430"/>
                  </a:cubicBezTo>
                  <a:lnTo>
                    <a:pt x="165100" y="2502430"/>
                  </a:lnTo>
                  <a:cubicBezTo>
                    <a:pt x="73918" y="2502430"/>
                    <a:pt x="0" y="2390392"/>
                    <a:pt x="0" y="2252187"/>
                  </a:cubicBezTo>
                  <a:lnTo>
                    <a:pt x="0" y="250243"/>
                  </a:lnTo>
                  <a:cubicBezTo>
                    <a:pt x="0" y="11203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858000" cy="254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783406" y="8026083"/>
            <a:ext cx="4762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C0392B"/>
                </a:solidFill>
                <a:latin typeface="Lora Bold"/>
                <a:ea typeface="Lora Bold"/>
                <a:cs typeface="Lora Bold"/>
                <a:sym typeface="Lora Bold"/>
              </a:rPr>
              <a:t>4-6 detik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05000" y="7399972"/>
            <a:ext cx="4762500" cy="51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Jeda Waktu</a:t>
            </a:r>
            <a:r>
              <a:rPr lang="en-US" b="true" sz="2699" strike="noStrike" u="none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Tidak Natural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91358" y="8686800"/>
            <a:ext cx="4762500" cy="3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7A6F63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jeda waktu antar-akun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477000" y="7381875"/>
            <a:ext cx="5143500" cy="1876822"/>
            <a:chOff x="0" y="0"/>
            <a:chExt cx="6858000" cy="25024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58000" cy="2502430"/>
            </a:xfrm>
            <a:custGeom>
              <a:avLst/>
              <a:gdLst/>
              <a:ahLst/>
              <a:cxnLst/>
              <a:rect r="r" b="b" t="t" l="l"/>
              <a:pathLst>
                <a:path h="2502430" w="6858000">
                  <a:moveTo>
                    <a:pt x="165100" y="0"/>
                  </a:moveTo>
                  <a:lnTo>
                    <a:pt x="6692900" y="0"/>
                  </a:lnTo>
                  <a:cubicBezTo>
                    <a:pt x="6784082" y="0"/>
                    <a:pt x="6858000" y="112038"/>
                    <a:pt x="6858000" y="250243"/>
                  </a:cubicBezTo>
                  <a:lnTo>
                    <a:pt x="6858000" y="2252187"/>
                  </a:lnTo>
                  <a:cubicBezTo>
                    <a:pt x="6858000" y="2390392"/>
                    <a:pt x="6784082" y="2502430"/>
                    <a:pt x="6692900" y="2502430"/>
                  </a:cubicBezTo>
                  <a:lnTo>
                    <a:pt x="165100" y="2502430"/>
                  </a:lnTo>
                  <a:cubicBezTo>
                    <a:pt x="73918" y="2502430"/>
                    <a:pt x="0" y="2390392"/>
                    <a:pt x="0" y="2252187"/>
                  </a:cubicBezTo>
                  <a:lnTo>
                    <a:pt x="0" y="250243"/>
                  </a:lnTo>
                  <a:cubicBezTo>
                    <a:pt x="0" y="11203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858000" cy="254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088490" y="8031044"/>
            <a:ext cx="4762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C0392B"/>
                </a:solidFill>
                <a:latin typeface="Lora Bold"/>
                <a:ea typeface="Lora Bold"/>
                <a:cs typeface="Lora Bold"/>
                <a:sym typeface="Lora Bold"/>
              </a:rPr>
              <a:t>90-100%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00900" y="7399972"/>
            <a:ext cx="4762500" cy="51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Kemiripan Text yang Tinggi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26856" y="8686800"/>
            <a:ext cx="4762500" cy="3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7A6F63"/>
                </a:solidFill>
                <a:latin typeface="Alegreya Sans"/>
                <a:ea typeface="Alegreya Sans"/>
                <a:cs typeface="Alegreya Sans"/>
                <a:sym typeface="Alegreya Sans"/>
              </a:rPr>
              <a:t>Kemiripan teks pada kluster utama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811000" y="7381875"/>
            <a:ext cx="5143500" cy="1876822"/>
            <a:chOff x="0" y="0"/>
            <a:chExt cx="6858000" cy="25024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58000" cy="2502430"/>
            </a:xfrm>
            <a:custGeom>
              <a:avLst/>
              <a:gdLst/>
              <a:ahLst/>
              <a:cxnLst/>
              <a:rect r="r" b="b" t="t" l="l"/>
              <a:pathLst>
                <a:path h="2502430" w="6858000">
                  <a:moveTo>
                    <a:pt x="165100" y="0"/>
                  </a:moveTo>
                  <a:lnTo>
                    <a:pt x="6692900" y="0"/>
                  </a:lnTo>
                  <a:cubicBezTo>
                    <a:pt x="6784082" y="0"/>
                    <a:pt x="6858000" y="112038"/>
                    <a:pt x="6858000" y="250243"/>
                  </a:cubicBezTo>
                  <a:lnTo>
                    <a:pt x="6858000" y="2252187"/>
                  </a:lnTo>
                  <a:cubicBezTo>
                    <a:pt x="6858000" y="2390392"/>
                    <a:pt x="6784082" y="2502430"/>
                    <a:pt x="6692900" y="2502430"/>
                  </a:cubicBezTo>
                  <a:lnTo>
                    <a:pt x="165100" y="2502430"/>
                  </a:lnTo>
                  <a:cubicBezTo>
                    <a:pt x="73918" y="2502430"/>
                    <a:pt x="0" y="2390392"/>
                    <a:pt x="0" y="2252187"/>
                  </a:cubicBezTo>
                  <a:lnTo>
                    <a:pt x="0" y="250243"/>
                  </a:lnTo>
                  <a:cubicBezTo>
                    <a:pt x="0" y="11203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58000" cy="254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393915" y="8026083"/>
            <a:ext cx="4762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C0392B"/>
                </a:solidFill>
                <a:latin typeface="Lora Bold"/>
                <a:ea typeface="Lora Bold"/>
                <a:cs typeface="Lora Bold"/>
                <a:sym typeface="Lora Bold"/>
              </a:rPr>
              <a:t>0 Followers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96800" y="7399972"/>
            <a:ext cx="4762500" cy="51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A363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Akun dengan Follower Kecil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63500" y="8686800"/>
            <a:ext cx="4762500" cy="3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7A6F63"/>
                </a:solidFill>
                <a:latin typeface="Alegreya Sans"/>
                <a:ea typeface="Alegreya Sans"/>
                <a:cs typeface="Alegreya Sans"/>
                <a:sym typeface="Alegreya Sans"/>
              </a:rPr>
              <a:t>Median follower pada jaringan terkuat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DAHMiJOy6XI</dc:identifier>
  <dcterms:modified xsi:type="dcterms:W3CDTF">2011-08-01T06:04:30Z</dcterms:modified>
  <cp:revision>1</cp:revision>
  <dc:title>Presentasi_Analisis_Narasi.pptx</dc:title>
</cp:coreProperties>
</file>