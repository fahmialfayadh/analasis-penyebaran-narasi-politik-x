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4269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094105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5795870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7021698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7443355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89401341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846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0992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4064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239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8298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35556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897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43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4934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690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6691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037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673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4772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5227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552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238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7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89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7153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35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926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351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4660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8904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1591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2825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5567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220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66849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mast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56658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437830079" name="Shape 1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814247641" name="Image 0" descr="preencoded.png">
            <a:hlinkClick r:id="rId2" tooltip=""/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154500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1858792788" name="Shape 0"/>
          <p:cNvSpPr/>
          <p:nvPr/>
        </p:nvSpPr>
        <p:spPr bwMode="auto"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sp>
        <p:nvSpPr>
          <p:cNvPr id="781760216" name="Shape 1"/>
          <p:cNvSpPr/>
          <p:nvPr/>
        </p:nvSpPr>
        <p:spPr bwMode="auto">
          <a:xfrm>
            <a:off x="76200" y="76200"/>
            <a:ext cx="751953" cy="95250"/>
          </a:xfrm>
          <a:prstGeom prst="roundRect">
            <a:avLst>
              <a:gd name="adj" fmla="val 36000"/>
            </a:avLst>
          </a:prstGeom>
          <a:solidFill>
            <a:srgbClr val="FEE2E2"/>
          </a:solidFill>
          <a:ln/>
        </p:spPr>
      </p:sp>
      <p:sp>
        <p:nvSpPr>
          <p:cNvPr id="1470102441" name="Text 2"/>
          <p:cNvSpPr/>
          <p:nvPr/>
        </p:nvSpPr>
        <p:spPr bwMode="auto">
          <a:xfrm>
            <a:off x="114300" y="88329"/>
            <a:ext cx="1132954" cy="70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450">
                <a:solidFill>
                  <a:srgbClr val="991B1B"/>
                </a:solidFill>
                <a:latin typeface="PPMori Medium"/>
                <a:ea typeface="PPMori Medium"/>
                <a:cs typeface="PPMori Medium"/>
              </a:rPr>
              <a:t> Error uploading image.</a:t>
            </a:r>
            <a:endParaRPr lang="en-US" sz="450"/>
          </a:p>
        </p:txBody>
      </p:sp>
      <p:pic>
        <p:nvPicPr>
          <p:cNvPr id="1780377062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14300" y="88329"/>
            <a:ext cx="57150" cy="57150"/>
          </a:xfrm>
          <a:prstGeom prst="rect">
            <a:avLst/>
          </a:prstGeom>
        </p:spPr>
      </p:pic>
      <p:sp>
        <p:nvSpPr>
          <p:cNvPr id="672249786" name="Text 3"/>
          <p:cNvSpPr/>
          <p:nvPr/>
        </p:nvSpPr>
        <p:spPr bwMode="auto">
          <a:xfrm>
            <a:off x="3952577" y="1184300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750">
                <a:solidFill>
                  <a:srgbClr val="38512F"/>
                </a:solidFill>
                <a:latin typeface="Lora"/>
                <a:ea typeface="Lora"/>
                <a:cs typeface="Lora"/>
              </a:rPr>
              <a:t>Analisis Pola Penyebaran Narasi Politik pada Aplikasi X</a:t>
            </a:r>
            <a:endParaRPr lang="en-US" sz="2750"/>
          </a:p>
        </p:txBody>
      </p:sp>
      <p:sp>
        <p:nvSpPr>
          <p:cNvPr id="1454300147" name="Text 4"/>
          <p:cNvSpPr/>
          <p:nvPr/>
        </p:nvSpPr>
        <p:spPr bwMode="auto">
          <a:xfrm>
            <a:off x="3952577" y="2728689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Oleh: </a:t>
            </a:r>
            <a:endParaRPr lang="en-US" sz="1150"/>
          </a:p>
        </p:txBody>
      </p:sp>
      <p:sp>
        <p:nvSpPr>
          <p:cNvPr id="759143707" name="Text 5"/>
          <p:cNvSpPr/>
          <p:nvPr/>
        </p:nvSpPr>
        <p:spPr bwMode="auto">
          <a:xfrm>
            <a:off x="3952577" y="3136329"/>
            <a:ext cx="4667845" cy="82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Fahmi Alfayadh | 5054251015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M. Dafa Aufa Afif | 50542510xx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Mahardika Indra Ilyasa | 50542510xx </a:t>
            </a:r>
            <a:endParaRPr lang="en-US" sz="1150"/>
          </a:p>
        </p:txBody>
      </p:sp>
      <p:pic>
        <p:nvPicPr>
          <p:cNvPr id="57200217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0"/>
            <a:ext cx="3784542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289353" name="Text 0"/>
          <p:cNvSpPr/>
          <p:nvPr/>
        </p:nvSpPr>
        <p:spPr bwMode="auto">
          <a:xfrm>
            <a:off x="523577" y="1367210"/>
            <a:ext cx="3830017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>
                <a:solidFill>
                  <a:srgbClr val="38512F"/>
                </a:solidFill>
                <a:latin typeface="Lora"/>
                <a:ea typeface="Lora"/>
                <a:cs typeface="Lora"/>
              </a:rPr>
              <a:t>1. Gambaran Sumber Data</a:t>
            </a:r>
            <a:endParaRPr lang="en-US" sz="2200"/>
          </a:p>
        </p:txBody>
      </p:sp>
      <p:sp>
        <p:nvSpPr>
          <p:cNvPr id="1069089401" name="Shape 1"/>
          <p:cNvSpPr/>
          <p:nvPr/>
        </p:nvSpPr>
        <p:spPr bwMode="auto">
          <a:xfrm>
            <a:off x="523577" y="2111871"/>
            <a:ext cx="2692971" cy="1496095"/>
          </a:xfrm>
          <a:prstGeom prst="roundRect">
            <a:avLst>
              <a:gd name="adj" fmla="val 1500"/>
            </a:avLst>
          </a:prstGeom>
          <a:solidFill>
            <a:srgbClr val="DFDFE0"/>
          </a:solidFill>
          <a:ln/>
        </p:spPr>
      </p:sp>
      <p:pic>
        <p:nvPicPr>
          <p:cNvPr id="138579450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8588" y="2714923"/>
            <a:ext cx="142875" cy="142875"/>
          </a:xfrm>
          <a:prstGeom prst="rect">
            <a:avLst/>
          </a:prstGeom>
        </p:spPr>
      </p:pic>
      <p:sp>
        <p:nvSpPr>
          <p:cNvPr id="1916777648" name="Text 2"/>
          <p:cNvSpPr/>
          <p:nvPr/>
        </p:nvSpPr>
        <p:spPr bwMode="auto">
          <a:xfrm>
            <a:off x="1076325" y="2930426"/>
            <a:ext cx="1587401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2000294296" name="Text 3"/>
          <p:cNvSpPr/>
          <p:nvPr/>
        </p:nvSpPr>
        <p:spPr bwMode="auto">
          <a:xfrm>
            <a:off x="3912989" y="2381101"/>
            <a:ext cx="471212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Data berasal dari tiga file JSON, masing‑masing untuk query kandidat: anies, ganjar, prabowo. Pipeline membaca file yang sudah tersedia (tidak melakukan crawling). Oleh karena itu, temuan berlaku untuk dataset ini—bukan keseluruhan percakapan politik di X.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368887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1522424273" name="Shape 0"/>
          <p:cNvSpPr/>
          <p:nvPr/>
        </p:nvSpPr>
        <p:spPr bwMode="auto"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108806189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1819562531" name="Text 1"/>
          <p:cNvSpPr/>
          <p:nvPr/>
        </p:nvSpPr>
        <p:spPr bwMode="auto">
          <a:xfrm>
            <a:off x="3952577" y="677912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>
                <a:solidFill>
                  <a:srgbClr val="38512F"/>
                </a:solidFill>
                <a:latin typeface="Lora"/>
                <a:ea typeface="Lora"/>
                <a:cs typeface="Lora"/>
              </a:rPr>
              <a:t>2. Ringkasan Dataset</a:t>
            </a:r>
            <a:endParaRPr lang="en-US" sz="2200"/>
          </a:p>
        </p:txBody>
      </p:sp>
      <p:sp>
        <p:nvSpPr>
          <p:cNvPr id="727005755" name="Text 2"/>
          <p:cNvSpPr/>
          <p:nvPr/>
        </p:nvSpPr>
        <p:spPr bwMode="auto">
          <a:xfrm>
            <a:off x="3952577" y="1254323"/>
            <a:ext cx="466784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Dataset: 1.002 tweet dari 584 akun unik, dikumpulkan dalam rentang ~21 menit (2024-01-04 17:59–18:21 UTC). Total retweet 563 (rasio 56,2%). Setiap query menyumbang 334 tweet, namun proporsi retweet berbeda antarquery.</a:t>
            </a:r>
            <a:endParaRPr lang="en-US" sz="1150"/>
          </a:p>
        </p:txBody>
      </p:sp>
      <p:sp>
        <p:nvSpPr>
          <p:cNvPr id="770831707" name="Shape 3"/>
          <p:cNvSpPr/>
          <p:nvPr/>
        </p:nvSpPr>
        <p:spPr bwMode="auto">
          <a:xfrm>
            <a:off x="3952577" y="2380134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947888441" name="Text 4"/>
          <p:cNvSpPr/>
          <p:nvPr/>
        </p:nvSpPr>
        <p:spPr bwMode="auto">
          <a:xfrm>
            <a:off x="4102150" y="252970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Anies</a:t>
            </a:r>
            <a:endParaRPr lang="en-US" sz="1350"/>
          </a:p>
        </p:txBody>
      </p:sp>
      <p:sp>
        <p:nvSpPr>
          <p:cNvPr id="1500321867" name="Text 5"/>
          <p:cNvSpPr/>
          <p:nvPr/>
        </p:nvSpPr>
        <p:spPr bwMode="auto">
          <a:xfrm>
            <a:off x="4102150" y="2839417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334 tweet · 187 akun · 302 retweet · 325 reply/mention</a:t>
            </a:r>
            <a:endParaRPr lang="en-US" sz="1150"/>
          </a:p>
        </p:txBody>
      </p:sp>
      <p:sp>
        <p:nvSpPr>
          <p:cNvPr id="1502629924" name="Shape 6"/>
          <p:cNvSpPr/>
          <p:nvPr/>
        </p:nvSpPr>
        <p:spPr bwMode="auto">
          <a:xfrm>
            <a:off x="6361286" y="2380134"/>
            <a:ext cx="2259137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909442870" name="Text 7"/>
          <p:cNvSpPr/>
          <p:nvPr/>
        </p:nvSpPr>
        <p:spPr bwMode="auto">
          <a:xfrm>
            <a:off x="6510858" y="252970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Ganjar</a:t>
            </a:r>
            <a:endParaRPr lang="en-US" sz="1350"/>
          </a:p>
        </p:txBody>
      </p:sp>
      <p:sp>
        <p:nvSpPr>
          <p:cNvPr id="1015813334" name="Text 8"/>
          <p:cNvSpPr/>
          <p:nvPr/>
        </p:nvSpPr>
        <p:spPr bwMode="auto">
          <a:xfrm>
            <a:off x="6510858" y="2839417"/>
            <a:ext cx="19599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334 tweet · 255 akun · 34 retweet · 54 reply/mention</a:t>
            </a:r>
            <a:endParaRPr lang="en-US" sz="1150"/>
          </a:p>
        </p:txBody>
      </p:sp>
      <p:sp>
        <p:nvSpPr>
          <p:cNvPr id="983206914" name="Shape 9"/>
          <p:cNvSpPr/>
          <p:nvPr/>
        </p:nvSpPr>
        <p:spPr bwMode="auto">
          <a:xfrm>
            <a:off x="3952577" y="3617342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F3E7D4"/>
          </a:solidFill>
          <a:ln/>
        </p:spPr>
      </p:sp>
      <p:sp>
        <p:nvSpPr>
          <p:cNvPr id="499160740" name="Text 10"/>
          <p:cNvSpPr/>
          <p:nvPr/>
        </p:nvSpPr>
        <p:spPr bwMode="auto">
          <a:xfrm>
            <a:off x="4102150" y="376691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Prabowo</a:t>
            </a:r>
            <a:endParaRPr lang="en-US" sz="1350"/>
          </a:p>
        </p:txBody>
      </p:sp>
      <p:sp>
        <p:nvSpPr>
          <p:cNvPr id="1985717396" name="Text 11"/>
          <p:cNvSpPr/>
          <p:nvPr/>
        </p:nvSpPr>
        <p:spPr bwMode="auto">
          <a:xfrm>
            <a:off x="4102150" y="4076626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334 tweet · 199 akun · 227 retweet · 282 reply/mention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798034" name="Text 0"/>
          <p:cNvSpPr/>
          <p:nvPr/>
        </p:nvSpPr>
        <p:spPr bwMode="auto">
          <a:xfrm>
            <a:off x="523577" y="910903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>
                <a:solidFill>
                  <a:srgbClr val="38512F"/>
                </a:solidFill>
                <a:latin typeface="Lora"/>
                <a:ea typeface="Lora"/>
                <a:cs typeface="Lora"/>
              </a:rPr>
              <a:t>3. Persiapan Data</a:t>
            </a:r>
            <a:endParaRPr lang="en-US" sz="2200"/>
          </a:p>
        </p:txBody>
      </p:sp>
      <p:sp>
        <p:nvSpPr>
          <p:cNvPr id="1461292211" name="Shape 1"/>
          <p:cNvSpPr/>
          <p:nvPr/>
        </p:nvSpPr>
        <p:spPr bwMode="auto">
          <a:xfrm>
            <a:off x="523577" y="2111871"/>
            <a:ext cx="2692971" cy="1496095"/>
          </a:xfrm>
          <a:prstGeom prst="roundRect">
            <a:avLst>
              <a:gd name="adj" fmla="val 1500"/>
            </a:avLst>
          </a:prstGeom>
          <a:solidFill>
            <a:srgbClr val="DFDFE0"/>
          </a:solidFill>
          <a:ln/>
        </p:spPr>
      </p:sp>
      <p:pic>
        <p:nvPicPr>
          <p:cNvPr id="70013881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8588" y="2714923"/>
            <a:ext cx="142875" cy="142875"/>
          </a:xfrm>
          <a:prstGeom prst="rect">
            <a:avLst/>
          </a:prstGeom>
        </p:spPr>
      </p:pic>
      <p:sp>
        <p:nvSpPr>
          <p:cNvPr id="1388192535" name="Text 2"/>
          <p:cNvSpPr/>
          <p:nvPr/>
        </p:nvSpPr>
        <p:spPr bwMode="auto">
          <a:xfrm>
            <a:off x="1076325" y="2930426"/>
            <a:ext cx="1587401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1077848127" name="Text 3"/>
          <p:cNvSpPr/>
          <p:nvPr/>
        </p:nvSpPr>
        <p:spPr bwMode="auto">
          <a:xfrm>
            <a:off x="4759226" y="1621929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      Semua tweet digabung lalu diurutkan berdasarkan date_created. Dua versi teks dibuat:     </a:t>
            </a:r>
            <a:endParaRPr lang="en-US" sz="1150"/>
          </a:p>
        </p:txBody>
      </p:sp>
      <p:sp>
        <p:nvSpPr>
          <p:cNvPr id="319289478" name="Text 4"/>
          <p:cNvSpPr/>
          <p:nvPr/>
        </p:nvSpPr>
        <p:spPr bwMode="auto">
          <a:xfrm>
            <a:off x="4759226" y="2235324"/>
            <a:ext cx="3865959" cy="1249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cleaned_content</a:t>
            </a: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: menghapus marker RT, pola reply, URL, spasi berlebih — untuk embedding/kesamaan semantik.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topic_content</a:t>
            </a: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: pembersihan lebih ketat (hapus mention, non-alfanumerik, token pendek) — untuk ekstraksi kata kunci/topik kluster.</a:t>
            </a:r>
            <a:endParaRPr lang="en-US" sz="1150"/>
          </a:p>
        </p:txBody>
      </p:sp>
      <p:sp>
        <p:nvSpPr>
          <p:cNvPr id="139177963" name="Text 5"/>
          <p:cNvSpPr/>
          <p:nvPr/>
        </p:nvSpPr>
        <p:spPr bwMode="auto">
          <a:xfrm>
            <a:off x="4759226" y="3619202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Pemisahan ini mengurangi bias dari penanda platform (RT/mention) saat mengukur kemiripan narasi.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871486" name="Text 0"/>
          <p:cNvSpPr/>
          <p:nvPr/>
        </p:nvSpPr>
        <p:spPr bwMode="auto">
          <a:xfrm>
            <a:off x="1308050" y="462111"/>
            <a:ext cx="3469630" cy="236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50">
                <a:solidFill>
                  <a:srgbClr val="38512F"/>
                </a:solidFill>
                <a:latin typeface="Lora"/>
                <a:ea typeface="Lora"/>
                <a:cs typeface="Lora"/>
              </a:rPr>
              <a:t>4. Pengukuran Kemiripan &amp; Waktu</a:t>
            </a:r>
            <a:endParaRPr lang="en-US" sz="1450"/>
          </a:p>
        </p:txBody>
      </p:sp>
      <p:pic>
        <p:nvPicPr>
          <p:cNvPr id="27318952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33811" y="833661"/>
            <a:ext cx="5076379" cy="2323281"/>
          </a:xfrm>
          <a:prstGeom prst="rect">
            <a:avLst/>
          </a:prstGeom>
        </p:spPr>
      </p:pic>
      <p:sp>
        <p:nvSpPr>
          <p:cNvPr id="1880894787" name="Text 1"/>
          <p:cNvSpPr/>
          <p:nvPr/>
        </p:nvSpPr>
        <p:spPr bwMode="auto">
          <a:xfrm>
            <a:off x="5920811" y="2351674"/>
            <a:ext cx="953048" cy="690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3A3630"/>
                </a:solidFill>
                <a:latin typeface="Lora"/>
                <a:ea typeface="Lora"/>
                <a:cs typeface="Lora"/>
              </a:rPr>
              <a:t>Gabungkan dengan bobot masing-masing 50%</a:t>
            </a:r>
            <a:endParaRPr lang="en-US" sz="1050"/>
          </a:p>
        </p:txBody>
      </p:sp>
      <p:sp>
        <p:nvSpPr>
          <p:cNvPr id="1337339315" name="Text 2"/>
          <p:cNvSpPr/>
          <p:nvPr/>
        </p:nvSpPr>
        <p:spPr bwMode="auto">
          <a:xfrm>
            <a:off x="4719709" y="2610642"/>
            <a:ext cx="953048" cy="17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3A3630"/>
                </a:solidFill>
                <a:latin typeface="Lora"/>
                <a:ea typeface="Lora"/>
                <a:cs typeface="Lora"/>
              </a:rPr>
              <a:t>Peluruhan</a:t>
            </a:r>
            <a:endParaRPr lang="en-US" sz="1050"/>
          </a:p>
        </p:txBody>
      </p:sp>
      <p:sp>
        <p:nvSpPr>
          <p:cNvPr id="853121810" name="Text 3"/>
          <p:cNvSpPr/>
          <p:nvPr/>
        </p:nvSpPr>
        <p:spPr bwMode="auto">
          <a:xfrm>
            <a:off x="3525135" y="2610642"/>
            <a:ext cx="953048" cy="17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3A3630"/>
                </a:solidFill>
                <a:latin typeface="Lora"/>
                <a:ea typeface="Lora"/>
                <a:cs typeface="Lora"/>
              </a:rPr>
              <a:t>Kesamaan</a:t>
            </a:r>
            <a:endParaRPr lang="en-US" sz="1050"/>
          </a:p>
        </p:txBody>
      </p:sp>
      <p:sp>
        <p:nvSpPr>
          <p:cNvPr id="1852921236" name="Text 4"/>
          <p:cNvSpPr/>
          <p:nvPr/>
        </p:nvSpPr>
        <p:spPr bwMode="auto">
          <a:xfrm>
            <a:off x="2304451" y="2610642"/>
            <a:ext cx="953048" cy="172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050">
                <a:solidFill>
                  <a:srgbClr val="3A3630"/>
                </a:solidFill>
                <a:latin typeface="Lora"/>
                <a:ea typeface="Lora"/>
                <a:cs typeface="Lora"/>
              </a:rPr>
              <a:t>Embed</a:t>
            </a:r>
            <a:endParaRPr lang="en-US" sz="1050"/>
          </a:p>
        </p:txBody>
      </p:sp>
      <p:sp>
        <p:nvSpPr>
          <p:cNvPr id="1017693410" name="Text 5"/>
          <p:cNvSpPr/>
          <p:nvPr/>
        </p:nvSpPr>
        <p:spPr bwMode="auto">
          <a:xfrm>
            <a:off x="1308050" y="3232919"/>
            <a:ext cx="6527899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  <a:defRPr/>
            </a:pPr>
            <a:r>
              <a:rPr lang="en-US" sz="7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Metode singkat: hubungan antar-tweet dihitung melalui empat langkah utama—embedding konten, pengukuran kemiripan teks, perhitungan peluruhan waktu, lalu penggabungan keduanya dengan bobot yang sama untuk menilai kekuatan hubungan secara lebih seimbang.</a:t>
            </a:r>
            <a:endParaRPr lang="en-US" sz="750"/>
          </a:p>
        </p:txBody>
      </p:sp>
      <p:sp>
        <p:nvSpPr>
          <p:cNvPr id="2034113798" name="Text 6"/>
          <p:cNvSpPr/>
          <p:nvPr/>
        </p:nvSpPr>
        <p:spPr bwMode="auto">
          <a:xfrm>
            <a:off x="1308050" y="3602980"/>
            <a:ext cx="1876276" cy="177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100">
                <a:solidFill>
                  <a:srgbClr val="38512F"/>
                </a:solidFill>
                <a:latin typeface="Lora"/>
                <a:ea typeface="Lora"/>
                <a:cs typeface="Lora"/>
              </a:rPr>
              <a:t>Formula Matematika</a:t>
            </a:r>
            <a:endParaRPr lang="en-US" sz="1100"/>
          </a:p>
        </p:txBody>
      </p:sp>
      <p:sp>
        <p:nvSpPr>
          <p:cNvPr id="1677004114" name="Text 7"/>
          <p:cNvSpPr/>
          <p:nvPr/>
        </p:nvSpPr>
        <p:spPr bwMode="auto">
          <a:xfrm>
            <a:off x="1308050" y="3881586"/>
            <a:ext cx="6527899" cy="28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  <a:defRPr/>
            </a:pPr>
            <a:endParaRPr lang="en-US" sz="850"/>
          </a:p>
        </p:txBody>
      </p:sp>
      <p:pic>
        <p:nvPicPr>
          <p:cNvPr id="2090428200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308050" y="3881586"/>
            <a:ext cx="6527899" cy="281508"/>
          </a:xfrm>
          <a:prstGeom prst="rect">
            <a:avLst/>
          </a:prstGeom>
        </p:spPr>
      </p:pic>
      <p:sp>
        <p:nvSpPr>
          <p:cNvPr id="1230888485" name="Text 8"/>
          <p:cNvSpPr/>
          <p:nvPr/>
        </p:nvSpPr>
        <p:spPr bwMode="auto">
          <a:xfrm>
            <a:off x="1308050" y="4248522"/>
            <a:ext cx="6985099" cy="17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  <a:defRPr/>
            </a:pPr>
            <a:endParaRPr lang="en-US" sz="850"/>
          </a:p>
        </p:txBody>
      </p:sp>
      <p:pic>
        <p:nvPicPr>
          <p:cNvPr id="69747747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308050" y="4248522"/>
            <a:ext cx="6527899" cy="173681"/>
          </a:xfrm>
          <a:prstGeom prst="rect">
            <a:avLst/>
          </a:prstGeom>
        </p:spPr>
      </p:pic>
      <p:sp>
        <p:nvSpPr>
          <p:cNvPr id="285709207" name="Text 9"/>
          <p:cNvSpPr/>
          <p:nvPr/>
        </p:nvSpPr>
        <p:spPr bwMode="auto">
          <a:xfrm>
            <a:off x="1308050" y="4507632"/>
            <a:ext cx="6985099" cy="173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  <a:defRPr/>
            </a:pPr>
            <a:endParaRPr lang="en-US" sz="850"/>
          </a:p>
        </p:txBody>
      </p:sp>
      <p:pic>
        <p:nvPicPr>
          <p:cNvPr id="72858305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308050" y="4507632"/>
            <a:ext cx="6527899" cy="173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53756" name="Text 0"/>
          <p:cNvSpPr/>
          <p:nvPr/>
        </p:nvSpPr>
        <p:spPr bwMode="auto">
          <a:xfrm>
            <a:off x="523577" y="820192"/>
            <a:ext cx="3416424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>
                <a:solidFill>
                  <a:srgbClr val="38512F"/>
                </a:solidFill>
                <a:latin typeface="Lora"/>
                <a:ea typeface="Lora"/>
                <a:cs typeface="Lora"/>
              </a:rPr>
              <a:t>5. Dua Jenis Hubungan</a:t>
            </a:r>
            <a:endParaRPr lang="en-US" sz="2200"/>
          </a:p>
        </p:txBody>
      </p:sp>
      <p:sp>
        <p:nvSpPr>
          <p:cNvPr id="717991116" name="Shape 1"/>
          <p:cNvSpPr/>
          <p:nvPr/>
        </p:nvSpPr>
        <p:spPr bwMode="auto">
          <a:xfrm>
            <a:off x="523577" y="2111871"/>
            <a:ext cx="2692971" cy="1496095"/>
          </a:xfrm>
          <a:prstGeom prst="roundRect">
            <a:avLst>
              <a:gd name="adj" fmla="val 1500"/>
            </a:avLst>
          </a:prstGeom>
          <a:solidFill>
            <a:srgbClr val="DFDFE0"/>
          </a:solidFill>
          <a:ln/>
        </p:spPr>
      </p:sp>
      <p:pic>
        <p:nvPicPr>
          <p:cNvPr id="10151032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98588" y="2714923"/>
            <a:ext cx="142875" cy="142875"/>
          </a:xfrm>
          <a:prstGeom prst="rect">
            <a:avLst/>
          </a:prstGeom>
        </p:spPr>
      </p:pic>
      <p:sp>
        <p:nvSpPr>
          <p:cNvPr id="718470816" name="Text 2"/>
          <p:cNvSpPr/>
          <p:nvPr/>
        </p:nvSpPr>
        <p:spPr bwMode="auto">
          <a:xfrm>
            <a:off x="1076325" y="2930426"/>
            <a:ext cx="1587401" cy="106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993149748" name="Text 3"/>
          <p:cNvSpPr/>
          <p:nvPr/>
        </p:nvSpPr>
        <p:spPr bwMode="auto">
          <a:xfrm>
            <a:off x="3912989" y="1531218"/>
            <a:ext cx="516932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      Graf membedakan dua tipe edge untuk interpretasi lebih aman:     </a:t>
            </a:r>
            <a:endParaRPr lang="en-US" sz="1150"/>
          </a:p>
        </p:txBody>
      </p:sp>
      <p:sp>
        <p:nvSpPr>
          <p:cNvPr id="1056990905" name="Text 4"/>
          <p:cNvSpPr/>
          <p:nvPr/>
        </p:nvSpPr>
        <p:spPr bwMode="auto">
          <a:xfrm>
            <a:off x="3912989" y="1905223"/>
            <a:ext cx="4712121" cy="1019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Edge semantic</a:t>
            </a: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: non-retweet, </a:t>
            </a:r>
            <a:r>
              <a:rPr lang="en-US" sz="1150" i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s_{text} \geq 0.65</a:t>
            </a: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, </a:t>
            </a:r>
            <a:r>
              <a:rPr lang="en-US" sz="1150" i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\Delta t \leq 1{,}800\,\text{s}</a:t>
            </a: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— mencerminkan narasi orisinal yang serupa.</a:t>
            </a:r>
            <a:endParaRPr lang="en-US" sz="1150"/>
          </a:p>
          <a:p>
            <a:pPr marL="342900" indent="-34290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15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Edge retweet</a:t>
            </a: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: kedua tweet retweet dari sumber sama, </a:t>
            </a:r>
            <a:r>
              <a:rPr lang="en-US" sz="1150" i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\Delta t \leq 1{,}800\,\text{s}</a:t>
            </a: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— mencerminkan amplifikasi/berbagi konten.</a:t>
            </a:r>
            <a:endParaRPr lang="en-US" sz="1150"/>
          </a:p>
        </p:txBody>
      </p:sp>
      <p:sp>
        <p:nvSpPr>
          <p:cNvPr id="424648002" name="Shape 5"/>
          <p:cNvSpPr/>
          <p:nvPr/>
        </p:nvSpPr>
        <p:spPr bwMode="auto">
          <a:xfrm>
            <a:off x="3912989" y="3092872"/>
            <a:ext cx="4712121" cy="1062112"/>
          </a:xfrm>
          <a:prstGeom prst="roundRect">
            <a:avLst>
              <a:gd name="adj" fmla="val 2113"/>
            </a:avLst>
          </a:prstGeom>
          <a:solidFill>
            <a:srgbClr val="B6D6FC"/>
          </a:solidFill>
          <a:ln/>
        </p:spPr>
      </p:sp>
      <p:pic>
        <p:nvPicPr>
          <p:cNvPr id="31379331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062561" y="3310830"/>
            <a:ext cx="187003" cy="149572"/>
          </a:xfrm>
          <a:prstGeom prst="rect">
            <a:avLst/>
          </a:prstGeom>
        </p:spPr>
      </p:pic>
      <p:sp>
        <p:nvSpPr>
          <p:cNvPr id="1562207466" name="Text 6"/>
          <p:cNvSpPr/>
          <p:nvPr/>
        </p:nvSpPr>
        <p:spPr bwMode="auto">
          <a:xfrm>
            <a:off x="4399136" y="3264843"/>
            <a:ext cx="407640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 Pemisahan mencegah kesalahan membaca kluster kuat yang sebenarnya hanya akibat banyak akun me-retweet unggahan yang sama.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027360" name="Text 0"/>
          <p:cNvSpPr/>
          <p:nvPr/>
        </p:nvSpPr>
        <p:spPr bwMode="auto">
          <a:xfrm>
            <a:off x="523577" y="1204838"/>
            <a:ext cx="5676081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200">
                <a:solidFill>
                  <a:srgbClr val="38512F"/>
                </a:solidFill>
                <a:latin typeface="Lora"/>
                <a:ea typeface="Lora"/>
                <a:cs typeface="Lora"/>
              </a:rPr>
              <a:t>6. Ringkasan Hubungan yang Terdeteksi</a:t>
            </a:r>
            <a:endParaRPr lang="en-US" sz="2200"/>
          </a:p>
        </p:txBody>
      </p:sp>
      <p:sp>
        <p:nvSpPr>
          <p:cNvPr id="1055881349" name="Text 1"/>
          <p:cNvSpPr/>
          <p:nvPr/>
        </p:nvSpPr>
        <p:spPr bwMode="auto">
          <a:xfrm>
            <a:off x="523577" y="1856110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Dari relation.csv: 2.357 edge teragregasi (berdasarkan 2.816 bukti mentah). Distribusi:</a:t>
            </a:r>
            <a:endParaRPr lang="en-US" sz="1150"/>
          </a:p>
        </p:txBody>
      </p:sp>
      <p:sp>
        <p:nvSpPr>
          <p:cNvPr id="333625626" name="Shape 2"/>
          <p:cNvSpPr/>
          <p:nvPr/>
        </p:nvSpPr>
        <p:spPr bwMode="auto">
          <a:xfrm>
            <a:off x="523577" y="2263750"/>
            <a:ext cx="566291" cy="566291"/>
          </a:xfrm>
          <a:prstGeom prst="roundRect">
            <a:avLst>
              <a:gd name="adj" fmla="val 3963"/>
            </a:avLst>
          </a:prstGeom>
          <a:solidFill>
            <a:srgbClr val="DFDFE0"/>
          </a:solidFill>
          <a:ln/>
        </p:spPr>
      </p:sp>
      <p:pic>
        <p:nvPicPr>
          <p:cNvPr id="1571538413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9573" y="2479253"/>
            <a:ext cx="114300" cy="114300"/>
          </a:xfrm>
          <a:prstGeom prst="rect">
            <a:avLst/>
          </a:prstGeom>
        </p:spPr>
      </p:pic>
      <p:sp>
        <p:nvSpPr>
          <p:cNvPr id="586553539" name="Text 3"/>
          <p:cNvSpPr/>
          <p:nvPr/>
        </p:nvSpPr>
        <p:spPr bwMode="auto">
          <a:xfrm>
            <a:off x="1276871" y="226375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Semantic</a:t>
            </a:r>
            <a:endParaRPr lang="en-US" sz="1350"/>
          </a:p>
        </p:txBody>
      </p:sp>
      <p:sp>
        <p:nvSpPr>
          <p:cNvPr id="1891278924" name="Text 4"/>
          <p:cNvSpPr/>
          <p:nvPr/>
        </p:nvSpPr>
        <p:spPr bwMode="auto">
          <a:xfrm>
            <a:off x="1276871" y="2573462"/>
            <a:ext cx="182098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1.929 edges (81,8%) — mayoritas hubungan adalah kemiripan narasi non-retweet.</a:t>
            </a:r>
            <a:endParaRPr lang="en-US" sz="1150"/>
          </a:p>
        </p:txBody>
      </p:sp>
      <p:sp>
        <p:nvSpPr>
          <p:cNvPr id="2133371856" name="Shape 5"/>
          <p:cNvSpPr/>
          <p:nvPr/>
        </p:nvSpPr>
        <p:spPr bwMode="auto">
          <a:xfrm>
            <a:off x="3284860" y="2263750"/>
            <a:ext cx="566291" cy="566291"/>
          </a:xfrm>
          <a:prstGeom prst="roundRect">
            <a:avLst>
              <a:gd name="adj" fmla="val 3963"/>
            </a:avLst>
          </a:prstGeom>
          <a:solidFill>
            <a:srgbClr val="DFDFE0"/>
          </a:solidFill>
          <a:ln/>
        </p:spPr>
      </p:sp>
      <p:pic>
        <p:nvPicPr>
          <p:cNvPr id="1677492677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510855" y="2479253"/>
            <a:ext cx="114300" cy="114300"/>
          </a:xfrm>
          <a:prstGeom prst="rect">
            <a:avLst/>
          </a:prstGeom>
        </p:spPr>
      </p:pic>
      <p:sp>
        <p:nvSpPr>
          <p:cNvPr id="1301802733" name="Text 6"/>
          <p:cNvSpPr/>
          <p:nvPr/>
        </p:nvSpPr>
        <p:spPr bwMode="auto">
          <a:xfrm>
            <a:off x="4038154" y="226375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Retweet</a:t>
            </a:r>
            <a:endParaRPr lang="en-US" sz="1350"/>
          </a:p>
        </p:txBody>
      </p:sp>
      <p:sp>
        <p:nvSpPr>
          <p:cNvPr id="1756621869" name="Text 7"/>
          <p:cNvSpPr/>
          <p:nvPr/>
        </p:nvSpPr>
        <p:spPr bwMode="auto">
          <a:xfrm>
            <a:off x="4038154" y="2573462"/>
            <a:ext cx="182098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422 edges (17,9%) — mencerminkan shared retweet dari sumber tunggal.</a:t>
            </a:r>
            <a:endParaRPr lang="en-US" sz="1150"/>
          </a:p>
        </p:txBody>
      </p:sp>
      <p:sp>
        <p:nvSpPr>
          <p:cNvPr id="715701133" name="Shape 8"/>
          <p:cNvSpPr/>
          <p:nvPr/>
        </p:nvSpPr>
        <p:spPr bwMode="auto">
          <a:xfrm>
            <a:off x="6046143" y="2263750"/>
            <a:ext cx="566291" cy="566291"/>
          </a:xfrm>
          <a:prstGeom prst="roundRect">
            <a:avLst>
              <a:gd name="adj" fmla="val 3963"/>
            </a:avLst>
          </a:prstGeom>
          <a:solidFill>
            <a:srgbClr val="DFDFE0"/>
          </a:solidFill>
          <a:ln/>
        </p:spPr>
      </p:sp>
      <p:pic>
        <p:nvPicPr>
          <p:cNvPr id="773608302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272138" y="2479253"/>
            <a:ext cx="114300" cy="114300"/>
          </a:xfrm>
          <a:prstGeom prst="rect">
            <a:avLst/>
          </a:prstGeom>
        </p:spPr>
      </p:pic>
      <p:sp>
        <p:nvSpPr>
          <p:cNvPr id="1341281848" name="Text 9"/>
          <p:cNvSpPr/>
          <p:nvPr/>
        </p:nvSpPr>
        <p:spPr bwMode="auto">
          <a:xfrm>
            <a:off x="6799436" y="226375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Campuran</a:t>
            </a:r>
            <a:endParaRPr lang="en-US" sz="1350"/>
          </a:p>
        </p:txBody>
      </p:sp>
      <p:sp>
        <p:nvSpPr>
          <p:cNvPr id="281737169" name="Text 10"/>
          <p:cNvSpPr/>
          <p:nvPr/>
        </p:nvSpPr>
        <p:spPr bwMode="auto">
          <a:xfrm>
            <a:off x="6799436" y="2573462"/>
            <a:ext cx="182098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6 edges (0,3%) — kombinasi semantic + retweet.</a:t>
            </a:r>
            <a:endParaRPr lang="en-US" sz="1150"/>
          </a:p>
        </p:txBody>
      </p:sp>
      <p:sp>
        <p:nvSpPr>
          <p:cNvPr id="84223623" name="Text 11"/>
          <p:cNvSpPr/>
          <p:nvPr/>
        </p:nvSpPr>
        <p:spPr bwMode="auto">
          <a:xfrm>
            <a:off x="523577" y="3699272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Sebagian besar pasangan tweet diposting dalam jarak kurang dari 15 detik, menunjukkan pola koordinasi yang cepat.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996814" name="Text 0"/>
          <p:cNvSpPr/>
          <p:nvPr/>
        </p:nvSpPr>
        <p:spPr bwMode="auto">
          <a:xfrm>
            <a:off x="523577" y="411435"/>
            <a:ext cx="4647977" cy="340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100">
                <a:solidFill>
                  <a:srgbClr val="38512F"/>
                </a:solidFill>
                <a:latin typeface="Lora"/>
                <a:ea typeface="Lora"/>
                <a:cs typeface="Lora"/>
              </a:rPr>
              <a:t>7. Deteksi Komunitas (Clustering)</a:t>
            </a:r>
            <a:endParaRPr lang="en-US" sz="2100"/>
          </a:p>
        </p:txBody>
      </p:sp>
      <p:sp>
        <p:nvSpPr>
          <p:cNvPr id="1394271442" name="Shape 1"/>
          <p:cNvSpPr/>
          <p:nvPr/>
        </p:nvSpPr>
        <p:spPr bwMode="auto">
          <a:xfrm>
            <a:off x="523577" y="1120899"/>
            <a:ext cx="2608808" cy="1449363"/>
          </a:xfrm>
          <a:prstGeom prst="roundRect">
            <a:avLst>
              <a:gd name="adj" fmla="val 1500"/>
            </a:avLst>
          </a:prstGeom>
          <a:solidFill>
            <a:srgbClr val="DFDFE0"/>
          </a:solidFill>
          <a:ln/>
        </p:spPr>
      </p:sp>
      <p:pic>
        <p:nvPicPr>
          <p:cNvPr id="57829943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56544" y="1703189"/>
            <a:ext cx="142875" cy="142875"/>
          </a:xfrm>
          <a:prstGeom prst="rect">
            <a:avLst/>
          </a:prstGeom>
        </p:spPr>
      </p:pic>
      <p:sp>
        <p:nvSpPr>
          <p:cNvPr id="532875103" name="Text 2"/>
          <p:cNvSpPr/>
          <p:nvPr/>
        </p:nvSpPr>
        <p:spPr bwMode="auto">
          <a:xfrm>
            <a:off x="1034281" y="1915120"/>
            <a:ext cx="1587401" cy="104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487743250" name="Text 3"/>
          <p:cNvSpPr/>
          <p:nvPr/>
        </p:nvSpPr>
        <p:spPr bwMode="auto">
          <a:xfrm>
            <a:off x="4331047" y="1503090"/>
            <a:ext cx="4294138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Algoritma: Louvain (resolution=2.0, seed=42). Hasil: 41 kluster teridentifikasi, diberi status berdasarkan kekuatan koordinasi kluster yang menilai densitas dan ukuran.</a:t>
            </a:r>
            <a:endParaRPr lang="en-US" sz="1100"/>
          </a:p>
        </p:txBody>
      </p:sp>
      <p:sp>
        <p:nvSpPr>
          <p:cNvPr id="1254446979" name="Shape 4"/>
          <p:cNvSpPr/>
          <p:nvPr/>
        </p:nvSpPr>
        <p:spPr bwMode="auto">
          <a:xfrm>
            <a:off x="523577" y="2886075"/>
            <a:ext cx="2605385" cy="853455"/>
          </a:xfrm>
          <a:prstGeom prst="roundRect">
            <a:avLst>
              <a:gd name="adj" fmla="val 254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892596965" name="Text 5"/>
          <p:cNvSpPr/>
          <p:nvPr/>
        </p:nvSpPr>
        <p:spPr bwMode="auto">
          <a:xfrm>
            <a:off x="687512" y="3050009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3A3630"/>
                </a:solidFill>
                <a:latin typeface="Lora"/>
                <a:ea typeface="Lora"/>
                <a:cs typeface="Lora"/>
              </a:rPr>
              <a:t>Koordinasi kuat</a:t>
            </a:r>
            <a:endParaRPr lang="en-US" sz="1300"/>
          </a:p>
        </p:txBody>
      </p:sp>
      <p:sp>
        <p:nvSpPr>
          <p:cNvPr id="1901345593" name="Text 6"/>
          <p:cNvSpPr/>
          <p:nvPr/>
        </p:nvSpPr>
        <p:spPr bwMode="auto">
          <a:xfrm>
            <a:off x="687512" y="3347293"/>
            <a:ext cx="2277517" cy="22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18 kluster</a:t>
            </a:r>
            <a:endParaRPr lang="en-US" sz="1100"/>
          </a:p>
        </p:txBody>
      </p:sp>
      <p:sp>
        <p:nvSpPr>
          <p:cNvPr id="270135685" name="Shape 7"/>
          <p:cNvSpPr/>
          <p:nvPr/>
        </p:nvSpPr>
        <p:spPr bwMode="auto">
          <a:xfrm>
            <a:off x="3269307" y="2886075"/>
            <a:ext cx="2605385" cy="853455"/>
          </a:xfrm>
          <a:prstGeom prst="roundRect">
            <a:avLst>
              <a:gd name="adj" fmla="val 254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2126680766" name="Text 8"/>
          <p:cNvSpPr/>
          <p:nvPr/>
        </p:nvSpPr>
        <p:spPr bwMode="auto">
          <a:xfrm>
            <a:off x="3433242" y="3050009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3A3630"/>
                </a:solidFill>
                <a:latin typeface="Lora"/>
                <a:ea typeface="Lora"/>
                <a:cs typeface="Lora"/>
              </a:rPr>
              <a:t>Perlu investigasi</a:t>
            </a:r>
            <a:endParaRPr lang="en-US" sz="1300"/>
          </a:p>
        </p:txBody>
      </p:sp>
      <p:sp>
        <p:nvSpPr>
          <p:cNvPr id="28605097" name="Text 9"/>
          <p:cNvSpPr/>
          <p:nvPr/>
        </p:nvSpPr>
        <p:spPr bwMode="auto">
          <a:xfrm>
            <a:off x="3433242" y="3347293"/>
            <a:ext cx="2277517" cy="22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4 kluster</a:t>
            </a:r>
            <a:endParaRPr lang="en-US" sz="1100"/>
          </a:p>
        </p:txBody>
      </p:sp>
      <p:sp>
        <p:nvSpPr>
          <p:cNvPr id="364681175" name="Shape 10"/>
          <p:cNvSpPr/>
          <p:nvPr/>
        </p:nvSpPr>
        <p:spPr bwMode="auto">
          <a:xfrm>
            <a:off x="6015038" y="2886075"/>
            <a:ext cx="2605385" cy="853455"/>
          </a:xfrm>
          <a:prstGeom prst="roundRect">
            <a:avLst>
              <a:gd name="adj" fmla="val 254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343034880" name="Text 11"/>
          <p:cNvSpPr/>
          <p:nvPr/>
        </p:nvSpPr>
        <p:spPr bwMode="auto">
          <a:xfrm>
            <a:off x="6178972" y="3050009"/>
            <a:ext cx="170512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3A3630"/>
                </a:solidFill>
                <a:latin typeface="Lora"/>
                <a:ea typeface="Lora"/>
                <a:cs typeface="Lora"/>
              </a:rPr>
              <a:t>Indikasi lemah</a:t>
            </a:r>
            <a:endParaRPr lang="en-US" sz="1300"/>
          </a:p>
        </p:txBody>
      </p:sp>
      <p:sp>
        <p:nvSpPr>
          <p:cNvPr id="1909113614" name="Text 12"/>
          <p:cNvSpPr/>
          <p:nvPr/>
        </p:nvSpPr>
        <p:spPr bwMode="auto">
          <a:xfrm>
            <a:off x="6178972" y="3347293"/>
            <a:ext cx="2277517" cy="22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18 kluster (kecil / bukti minim)</a:t>
            </a:r>
            <a:endParaRPr lang="en-US" sz="1100"/>
          </a:p>
        </p:txBody>
      </p:sp>
      <p:sp>
        <p:nvSpPr>
          <p:cNvPr id="1943561858" name="Shape 13"/>
          <p:cNvSpPr/>
          <p:nvPr/>
        </p:nvSpPr>
        <p:spPr bwMode="auto">
          <a:xfrm>
            <a:off x="523577" y="3879875"/>
            <a:ext cx="8096845" cy="853455"/>
          </a:xfrm>
          <a:prstGeom prst="roundRect">
            <a:avLst>
              <a:gd name="adj" fmla="val 2547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855269256" name="Text 14"/>
          <p:cNvSpPr/>
          <p:nvPr/>
        </p:nvSpPr>
        <p:spPr bwMode="auto">
          <a:xfrm>
            <a:off x="687512" y="4043809"/>
            <a:ext cx="1876723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00">
                <a:solidFill>
                  <a:srgbClr val="3A3630"/>
                </a:solidFill>
                <a:latin typeface="Lora"/>
                <a:ea typeface="Lora"/>
                <a:cs typeface="Lora"/>
              </a:rPr>
              <a:t>Pola cenderung organik</a:t>
            </a:r>
            <a:endParaRPr lang="en-US" sz="1300"/>
          </a:p>
        </p:txBody>
      </p:sp>
      <p:sp>
        <p:nvSpPr>
          <p:cNvPr id="510837031" name="Text 15"/>
          <p:cNvSpPr/>
          <p:nvPr/>
        </p:nvSpPr>
        <p:spPr bwMode="auto">
          <a:xfrm>
            <a:off x="687512" y="4341093"/>
            <a:ext cx="7768977" cy="22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1 kluster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304548" name="Text 0"/>
          <p:cNvSpPr/>
          <p:nvPr/>
        </p:nvSpPr>
        <p:spPr bwMode="auto">
          <a:xfrm>
            <a:off x="523577" y="554831"/>
            <a:ext cx="485812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150">
                <a:solidFill>
                  <a:srgbClr val="38512F"/>
                </a:solidFill>
                <a:latin typeface="Lora"/>
                <a:ea typeface="Lora"/>
                <a:cs typeface="Lora"/>
              </a:rPr>
              <a:t>8. Kluster Unggulan &amp; Interpretasi</a:t>
            </a:r>
            <a:endParaRPr lang="en-US" sz="2150"/>
          </a:p>
        </p:txBody>
      </p:sp>
      <p:sp>
        <p:nvSpPr>
          <p:cNvPr id="571423090" name="Text 1"/>
          <p:cNvSpPr/>
          <p:nvPr/>
        </p:nvSpPr>
        <p:spPr bwMode="auto">
          <a:xfrm>
            <a:off x="523577" y="1191220"/>
            <a:ext cx="8554045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Contoh kluster dengan skor koordinasi tinggi (ringkasan): </a:t>
            </a:r>
            <a:endParaRPr lang="en-US" sz="1150"/>
          </a:p>
        </p:txBody>
      </p:sp>
      <p:sp>
        <p:nvSpPr>
          <p:cNvPr id="979054307" name="Shape 2"/>
          <p:cNvSpPr/>
          <p:nvPr/>
        </p:nvSpPr>
        <p:spPr bwMode="auto">
          <a:xfrm>
            <a:off x="523577" y="1587996"/>
            <a:ext cx="1134368" cy="1417960"/>
          </a:xfrm>
          <a:prstGeom prst="roundRect">
            <a:avLst>
              <a:gd name="adj" fmla="val 1947"/>
            </a:avLst>
          </a:prstGeom>
          <a:solidFill>
            <a:srgbClr val="DFDFE0"/>
          </a:solidFill>
          <a:ln/>
        </p:spPr>
      </p:sp>
      <p:pic>
        <p:nvPicPr>
          <p:cNvPr id="205549020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19323" y="2153245"/>
            <a:ext cx="142875" cy="142875"/>
          </a:xfrm>
          <a:prstGeom prst="rect">
            <a:avLst/>
          </a:prstGeom>
        </p:spPr>
      </p:pic>
      <p:sp>
        <p:nvSpPr>
          <p:cNvPr id="1228873033" name="Text 3"/>
          <p:cNvSpPr/>
          <p:nvPr/>
        </p:nvSpPr>
        <p:spPr bwMode="auto">
          <a:xfrm>
            <a:off x="525661" y="2366963"/>
            <a:ext cx="1130201" cy="1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799900204" name="Text 4"/>
          <p:cNvSpPr/>
          <p:nvPr/>
        </p:nvSpPr>
        <p:spPr bwMode="auto">
          <a:xfrm>
            <a:off x="523577" y="3187154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Cluster 5</a:t>
            </a:r>
            <a:endParaRPr lang="en-US" sz="1350"/>
          </a:p>
        </p:txBody>
      </p:sp>
      <p:sp>
        <p:nvSpPr>
          <p:cNvPr id="1512318684" name="Text 5"/>
          <p:cNvSpPr/>
          <p:nvPr/>
        </p:nvSpPr>
        <p:spPr bwMode="auto">
          <a:xfrm>
            <a:off x="523577" y="3490615"/>
            <a:ext cx="2578150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Ukuran 41 · Density 0,865 · Evidence 709 · Fokus: koperasi, perbankan, UMKM, kredit</a:t>
            </a:r>
            <a:endParaRPr lang="en-US" sz="1150"/>
          </a:p>
        </p:txBody>
      </p:sp>
      <p:sp>
        <p:nvSpPr>
          <p:cNvPr id="1815052585" name="Shape 6"/>
          <p:cNvSpPr/>
          <p:nvPr/>
        </p:nvSpPr>
        <p:spPr bwMode="auto">
          <a:xfrm>
            <a:off x="3282925" y="1587996"/>
            <a:ext cx="1134368" cy="1417960"/>
          </a:xfrm>
          <a:prstGeom prst="roundRect">
            <a:avLst>
              <a:gd name="adj" fmla="val 1947"/>
            </a:avLst>
          </a:prstGeom>
          <a:solidFill>
            <a:srgbClr val="DFDFE0"/>
          </a:solidFill>
          <a:ln/>
        </p:spPr>
      </p:sp>
      <p:pic>
        <p:nvPicPr>
          <p:cNvPr id="90338820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778672" y="2153245"/>
            <a:ext cx="142875" cy="142875"/>
          </a:xfrm>
          <a:prstGeom prst="rect">
            <a:avLst/>
          </a:prstGeom>
        </p:spPr>
      </p:pic>
      <p:sp>
        <p:nvSpPr>
          <p:cNvPr id="80861371" name="Text 7"/>
          <p:cNvSpPr/>
          <p:nvPr/>
        </p:nvSpPr>
        <p:spPr bwMode="auto">
          <a:xfrm>
            <a:off x="3285009" y="2366963"/>
            <a:ext cx="1130201" cy="1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781329528" name="Text 8"/>
          <p:cNvSpPr/>
          <p:nvPr/>
        </p:nvSpPr>
        <p:spPr bwMode="auto">
          <a:xfrm>
            <a:off x="3282925" y="3187154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Cluster 11</a:t>
            </a:r>
            <a:endParaRPr lang="en-US" sz="1350"/>
          </a:p>
        </p:txBody>
      </p:sp>
      <p:sp>
        <p:nvSpPr>
          <p:cNvPr id="2050365397" name="Text 9"/>
          <p:cNvSpPr/>
          <p:nvPr/>
        </p:nvSpPr>
        <p:spPr bwMode="auto">
          <a:xfrm>
            <a:off x="3282925" y="3490615"/>
            <a:ext cx="2578150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Ukuran 18 · Density 0,954 · Evidence 146 · Fokus: kesehatan mental, puskesmas</a:t>
            </a:r>
            <a:endParaRPr lang="en-US" sz="1150"/>
          </a:p>
        </p:txBody>
      </p:sp>
      <p:sp>
        <p:nvSpPr>
          <p:cNvPr id="1360798974" name="Shape 10"/>
          <p:cNvSpPr/>
          <p:nvPr/>
        </p:nvSpPr>
        <p:spPr bwMode="auto">
          <a:xfrm>
            <a:off x="6042273" y="1587996"/>
            <a:ext cx="1134368" cy="1417960"/>
          </a:xfrm>
          <a:prstGeom prst="roundRect">
            <a:avLst>
              <a:gd name="adj" fmla="val 1947"/>
            </a:avLst>
          </a:prstGeom>
          <a:solidFill>
            <a:srgbClr val="DFDFE0"/>
          </a:solidFill>
          <a:ln/>
        </p:spPr>
      </p:sp>
      <p:pic>
        <p:nvPicPr>
          <p:cNvPr id="1282820049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538020" y="2153245"/>
            <a:ext cx="142875" cy="142875"/>
          </a:xfrm>
          <a:prstGeom prst="rect">
            <a:avLst/>
          </a:prstGeom>
        </p:spPr>
      </p:pic>
      <p:sp>
        <p:nvSpPr>
          <p:cNvPr id="968811965" name="Text 11"/>
          <p:cNvSpPr/>
          <p:nvPr/>
        </p:nvSpPr>
        <p:spPr bwMode="auto">
          <a:xfrm>
            <a:off x="6044357" y="2366963"/>
            <a:ext cx="1130201" cy="105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1249433958" name="Text 12"/>
          <p:cNvSpPr/>
          <p:nvPr/>
        </p:nvSpPr>
        <p:spPr bwMode="auto">
          <a:xfrm>
            <a:off x="6042273" y="3187154"/>
            <a:ext cx="1732583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350">
                <a:solidFill>
                  <a:srgbClr val="3A3630"/>
                </a:solidFill>
                <a:latin typeface="Lora"/>
                <a:ea typeface="Lora"/>
                <a:cs typeface="Lora"/>
              </a:rPr>
              <a:t>Cluster 6</a:t>
            </a:r>
            <a:endParaRPr lang="en-US" sz="1350"/>
          </a:p>
        </p:txBody>
      </p:sp>
      <p:sp>
        <p:nvSpPr>
          <p:cNvPr id="393683340" name="Text 13"/>
          <p:cNvSpPr/>
          <p:nvPr/>
        </p:nvSpPr>
        <p:spPr bwMode="auto">
          <a:xfrm>
            <a:off x="6042273" y="3490615"/>
            <a:ext cx="2578150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Ukuran 13 · Density 1,000 · Fokus: nelayan, kredit macet</a:t>
            </a:r>
            <a:endParaRPr lang="en-US" sz="1150"/>
          </a:p>
        </p:txBody>
      </p:sp>
      <p:sp>
        <p:nvSpPr>
          <p:cNvPr id="706655942" name="Text 14"/>
          <p:cNvSpPr/>
          <p:nvPr/>
        </p:nvSpPr>
        <p:spPr bwMode="auto">
          <a:xfrm>
            <a:off x="523577" y="4121125"/>
            <a:ext cx="8096845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  <a:defRPr/>
            </a:pPr>
            <a:r>
              <a:rPr lang="en-US" sz="115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Catatan interpretasi: beberapa kluster (mis. 5,11,6,9) didominasi oleh edge semantic — mengindikasikan narasi orisinal yang mirip. Kluster lain (mis. 20,15) didominasi shared RT — lebih tepat dibaca sebagai amplifikasi dari sumber tertentu.</a:t>
            </a:r>
            <a:endParaRPr lang="en-US" sz="11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669852" name="Text 0"/>
          <p:cNvSpPr/>
          <p:nvPr/>
        </p:nvSpPr>
        <p:spPr bwMode="auto">
          <a:xfrm>
            <a:off x="523577" y="436587"/>
            <a:ext cx="7927181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050">
                <a:solidFill>
                  <a:srgbClr val="38512F"/>
                </a:solidFill>
                <a:latin typeface="Lora"/>
                <a:ea typeface="Lora"/>
                <a:cs typeface="Lora"/>
              </a:rPr>
              <a:t>9. Studi Kasus: Kluster Shared Retweet — "Deklarasi Pemuda"</a:t>
            </a:r>
            <a:endParaRPr lang="en-US" sz="2050"/>
          </a:p>
        </p:txBody>
      </p:sp>
      <p:sp>
        <p:nvSpPr>
          <p:cNvPr id="1670361856" name="Shape 1"/>
          <p:cNvSpPr/>
          <p:nvPr/>
        </p:nvSpPr>
        <p:spPr bwMode="auto">
          <a:xfrm>
            <a:off x="523577" y="2134046"/>
            <a:ext cx="2524720" cy="1402556"/>
          </a:xfrm>
          <a:prstGeom prst="roundRect">
            <a:avLst>
              <a:gd name="adj" fmla="val 1500"/>
            </a:avLst>
          </a:prstGeom>
          <a:solidFill>
            <a:srgbClr val="DFDFE0"/>
          </a:solidFill>
          <a:ln/>
        </p:spPr>
      </p:sp>
      <p:pic>
        <p:nvPicPr>
          <p:cNvPr id="113596847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714500" y="2690813"/>
            <a:ext cx="142875" cy="142875"/>
          </a:xfrm>
          <a:prstGeom prst="rect">
            <a:avLst/>
          </a:prstGeom>
        </p:spPr>
      </p:pic>
      <p:sp>
        <p:nvSpPr>
          <p:cNvPr id="1825714833" name="Text 2"/>
          <p:cNvSpPr/>
          <p:nvPr/>
        </p:nvSpPr>
        <p:spPr bwMode="auto">
          <a:xfrm>
            <a:off x="992237" y="2903934"/>
            <a:ext cx="1587401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  <a:defRPr/>
            </a:pPr>
            <a:r>
              <a:rPr lang="en-US" sz="500">
                <a:solidFill>
                  <a:srgbClr val="AEAEB2"/>
                </a:solidFill>
                <a:latin typeface="Source Sans 3"/>
                <a:ea typeface="Source Sans 3"/>
                <a:cs typeface="Source Sans 3"/>
              </a:rPr>
              <a:t>There was an error generating this image</a:t>
            </a:r>
            <a:endParaRPr lang="en-US" sz="500"/>
          </a:p>
        </p:txBody>
      </p:sp>
      <p:sp>
        <p:nvSpPr>
          <p:cNvPr id="1200982911" name="Text 3"/>
          <p:cNvSpPr/>
          <p:nvPr/>
        </p:nvSpPr>
        <p:spPr bwMode="auto">
          <a:xfrm>
            <a:off x="4747840" y="1082129"/>
            <a:ext cx="4334545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      Kluster 1: contoh khas shared retweet. Ringkasan metrik:     </a:t>
            </a:r>
            <a:endParaRPr lang="en-US" sz="1100"/>
          </a:p>
        </p:txBody>
      </p:sp>
      <p:sp>
        <p:nvSpPr>
          <p:cNvPr id="735530466" name="Shape 4"/>
          <p:cNvSpPr/>
          <p:nvPr/>
        </p:nvSpPr>
        <p:spPr bwMode="auto">
          <a:xfrm>
            <a:off x="4747840" y="1447354"/>
            <a:ext cx="3877345" cy="2341215"/>
          </a:xfrm>
          <a:prstGeom prst="roundRect">
            <a:avLst>
              <a:gd name="adj" fmla="val 899"/>
            </a:avLst>
          </a:prstGeom>
          <a:noFill/>
          <a:ln w="4763">
            <a:solidFill>
              <a:srgbClr val="000000">
                <a:alpha val="7999"/>
              </a:srgbClr>
            </a:solidFill>
            <a:prstDash val="solid"/>
          </a:ln>
        </p:spPr>
      </p:sp>
      <p:sp>
        <p:nvSpPr>
          <p:cNvPr id="1780326320" name="Text 5"/>
          <p:cNvSpPr/>
          <p:nvPr/>
        </p:nvSpPr>
        <p:spPr bwMode="auto">
          <a:xfrm>
            <a:off x="4892873" y="1535757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Jumlah akun</a:t>
            </a:r>
            <a:endParaRPr lang="en-US" sz="1100"/>
          </a:p>
        </p:txBody>
      </p:sp>
      <p:sp>
        <p:nvSpPr>
          <p:cNvPr id="2019989896" name="Text 6"/>
          <p:cNvSpPr/>
          <p:nvPr/>
        </p:nvSpPr>
        <p:spPr bwMode="auto">
          <a:xfrm>
            <a:off x="6826746" y="1535757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11</a:t>
            </a:r>
            <a:endParaRPr lang="en-US" sz="1100"/>
          </a:p>
        </p:txBody>
      </p:sp>
      <p:sp>
        <p:nvSpPr>
          <p:cNvPr id="1153013280" name="Text 7"/>
          <p:cNvSpPr/>
          <p:nvPr/>
        </p:nvSpPr>
        <p:spPr bwMode="auto">
          <a:xfrm>
            <a:off x="4892873" y="1925166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Density</a:t>
            </a:r>
            <a:endParaRPr lang="en-US" sz="1100"/>
          </a:p>
        </p:txBody>
      </p:sp>
      <p:sp>
        <p:nvSpPr>
          <p:cNvPr id="1460748559" name="Text 8"/>
          <p:cNvSpPr/>
          <p:nvPr/>
        </p:nvSpPr>
        <p:spPr bwMode="auto">
          <a:xfrm>
            <a:off x="6826746" y="1925166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1,000</a:t>
            </a:r>
            <a:endParaRPr lang="en-US" sz="1100"/>
          </a:p>
        </p:txBody>
      </p:sp>
      <p:sp>
        <p:nvSpPr>
          <p:cNvPr id="1044416164" name="Text 9"/>
          <p:cNvSpPr/>
          <p:nvPr/>
        </p:nvSpPr>
        <p:spPr bwMode="auto">
          <a:xfrm>
            <a:off x="4892873" y="2314575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Evidence</a:t>
            </a:r>
            <a:endParaRPr lang="en-US" sz="1100"/>
          </a:p>
        </p:txBody>
      </p:sp>
      <p:sp>
        <p:nvSpPr>
          <p:cNvPr id="1009982571" name="Text 10"/>
          <p:cNvSpPr/>
          <p:nvPr/>
        </p:nvSpPr>
        <p:spPr bwMode="auto">
          <a:xfrm>
            <a:off x="6826746" y="2314575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186</a:t>
            </a:r>
            <a:endParaRPr lang="en-US" sz="1100"/>
          </a:p>
        </p:txBody>
      </p:sp>
      <p:sp>
        <p:nvSpPr>
          <p:cNvPr id="74313973" name="Text 11"/>
          <p:cNvSpPr/>
          <p:nvPr/>
        </p:nvSpPr>
        <p:spPr bwMode="auto">
          <a:xfrm>
            <a:off x="4892873" y="2703983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RT edges</a:t>
            </a:r>
            <a:endParaRPr lang="en-US" sz="1100"/>
          </a:p>
        </p:txBody>
      </p:sp>
      <p:sp>
        <p:nvSpPr>
          <p:cNvPr id="424654856" name="Text 12"/>
          <p:cNvSpPr/>
          <p:nvPr/>
        </p:nvSpPr>
        <p:spPr bwMode="auto">
          <a:xfrm>
            <a:off x="6826746" y="2703983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55</a:t>
            </a:r>
            <a:endParaRPr lang="en-US" sz="1100"/>
          </a:p>
        </p:txBody>
      </p:sp>
      <p:sp>
        <p:nvSpPr>
          <p:cNvPr id="293112928" name="Text 13"/>
          <p:cNvSpPr/>
          <p:nvPr/>
        </p:nvSpPr>
        <p:spPr bwMode="auto">
          <a:xfrm>
            <a:off x="4892873" y="3093393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Semantic edges</a:t>
            </a:r>
            <a:endParaRPr lang="en-US" sz="1100"/>
          </a:p>
        </p:txBody>
      </p:sp>
      <p:sp>
        <p:nvSpPr>
          <p:cNvPr id="1199559440" name="Text 14"/>
          <p:cNvSpPr/>
          <p:nvPr/>
        </p:nvSpPr>
        <p:spPr bwMode="auto">
          <a:xfrm>
            <a:off x="6826746" y="3093393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6</a:t>
            </a:r>
            <a:endParaRPr lang="en-US" sz="1100"/>
          </a:p>
        </p:txBody>
      </p:sp>
      <p:sp>
        <p:nvSpPr>
          <p:cNvPr id="2098011345" name="Text 15"/>
          <p:cNvSpPr/>
          <p:nvPr/>
        </p:nvSpPr>
        <p:spPr bwMode="auto">
          <a:xfrm>
            <a:off x="4892873" y="3482801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 b="1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Sumber RT dominan</a:t>
            </a:r>
            <a:endParaRPr lang="en-US" sz="1100"/>
          </a:p>
        </p:txBody>
      </p:sp>
      <p:sp>
        <p:nvSpPr>
          <p:cNvPr id="28740804" name="Text 16"/>
          <p:cNvSpPr/>
          <p:nvPr/>
        </p:nvSpPr>
        <p:spPr bwMode="auto">
          <a:xfrm>
            <a:off x="6826746" y="3482801"/>
            <a:ext cx="211068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AzzrielAzaryahu</a:t>
            </a:r>
            <a:endParaRPr lang="en-US" sz="1100"/>
          </a:p>
        </p:txBody>
      </p:sp>
      <p:sp>
        <p:nvSpPr>
          <p:cNvPr id="1654248099" name="Text 17"/>
          <p:cNvSpPr/>
          <p:nvPr/>
        </p:nvSpPr>
        <p:spPr bwMode="auto">
          <a:xfrm>
            <a:off x="4747840" y="3936428"/>
            <a:ext cx="3877345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  <a:defRPr/>
            </a:pPr>
            <a:r>
              <a:rPr lang="en-US" sz="1100">
                <a:solidFill>
                  <a:srgbClr val="3A3630"/>
                </a:solidFill>
                <a:latin typeface="Source Sans 3"/>
                <a:ea typeface="Source Sans 3"/>
                <a:cs typeface="Source Sans 3"/>
              </a:rPr>
              <a:t> Interpretasi: cluster ini merefleksikan amplifikasi satu sumber (shared retweet) dalam jangka waktu pendek — bukan bukti narasi independen dari banyak akun.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</cp:revision>
  <dcterms:created xsi:type="dcterms:W3CDTF">2026-06-14T08:25:05Z</dcterms:created>
  <dcterms:modified xsi:type="dcterms:W3CDTF">2026-06-14T08:28:51Z</dcterms:modified>
</cp:coreProperties>
</file>